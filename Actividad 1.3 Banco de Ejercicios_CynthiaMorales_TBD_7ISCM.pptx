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2" r:id="rId3"/>
    <p:sldId id="263" r:id="rId4"/>
    <p:sldId id="257" r:id="rId5"/>
    <p:sldId id="258" r:id="rId6"/>
    <p:sldId id="259" r:id="rId7"/>
    <p:sldId id="260" r:id="rId8"/>
    <p:sldId id="264" r:id="rId9"/>
    <p:sldId id="261"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6F94BA5-2C33-410B-A845-2C0587A4FFE7}" type="datetimeFigureOut">
              <a:rPr lang="es-MX" smtClean="0"/>
              <a:t>01/11/2026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1167564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6F94BA5-2C33-410B-A845-2C0587A4FFE7}" type="datetimeFigureOut">
              <a:rPr lang="es-MX" smtClean="0"/>
              <a:t>01/11/2026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1483361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6F94BA5-2C33-410B-A845-2C0587A4FFE7}" type="datetimeFigureOut">
              <a:rPr lang="es-MX" smtClean="0"/>
              <a:t>01/11/2026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283030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6F94BA5-2C33-410B-A845-2C0587A4FFE7}" type="datetimeFigureOut">
              <a:rPr lang="es-MX" smtClean="0"/>
              <a:t>01/11/2026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2796755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6F94BA5-2C33-410B-A845-2C0587A4FFE7}" type="datetimeFigureOut">
              <a:rPr lang="es-MX" smtClean="0"/>
              <a:t>01/11/2026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2131414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6F94BA5-2C33-410B-A845-2C0587A4FFE7}" type="datetimeFigureOut">
              <a:rPr lang="es-MX" smtClean="0"/>
              <a:t>01/11/2026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1655490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66F94BA5-2C33-410B-A845-2C0587A4FFE7}" type="datetimeFigureOut">
              <a:rPr lang="es-MX" smtClean="0"/>
              <a:t>01/11/2026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346790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6F94BA5-2C33-410B-A845-2C0587A4FFE7}" type="datetimeFigureOut">
              <a:rPr lang="es-MX" smtClean="0"/>
              <a:t>01/11/2026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617527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6F94BA5-2C33-410B-A845-2C0587A4FFE7}" type="datetimeFigureOut">
              <a:rPr lang="es-MX" smtClean="0"/>
              <a:t>01/11/2026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373424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6F94BA5-2C33-410B-A845-2C0587A4FFE7}" type="datetimeFigureOut">
              <a:rPr lang="es-MX" smtClean="0"/>
              <a:t>01/11/2026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2411206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6F94BA5-2C33-410B-A845-2C0587A4FFE7}" type="datetimeFigureOut">
              <a:rPr lang="es-MX" smtClean="0"/>
              <a:t>01/11/2026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152207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6F94BA5-2C33-410B-A845-2C0587A4FFE7}" type="datetimeFigureOut">
              <a:rPr lang="es-MX" smtClean="0"/>
              <a:t>01/11/2026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AB179CB-942C-46A4-81B8-835AB9F42DC8}"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188997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6F94BA5-2C33-410B-A845-2C0587A4FFE7}" type="datetimeFigureOut">
              <a:rPr lang="es-MX" smtClean="0"/>
              <a:t>01/11/2026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35305107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66F94BA5-2C33-410B-A845-2C0587A4FFE7}" type="datetimeFigureOut">
              <a:rPr lang="es-MX" smtClean="0"/>
              <a:t>01/11/2026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34174617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66F94BA5-2C33-410B-A845-2C0587A4FFE7}" type="datetimeFigureOut">
              <a:rPr lang="es-MX" smtClean="0"/>
              <a:t>01/11/2026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5090532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6F94BA5-2C33-410B-A845-2C0587A4FFE7}" type="datetimeFigureOut">
              <a:rPr lang="es-MX" smtClean="0"/>
              <a:t>01/11/2026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6435971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6F94BA5-2C33-410B-A845-2C0587A4FFE7}" type="datetimeFigureOut">
              <a:rPr lang="es-MX" smtClean="0"/>
              <a:t>01/11/2026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29669180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6F94BA5-2C33-410B-A845-2C0587A4FFE7}" type="datetimeFigureOut">
              <a:rPr lang="es-MX" smtClean="0"/>
              <a:t>01/11/2026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AB179CB-942C-46A4-81B8-835AB9F42DC8}" type="slidenum">
              <a:rPr lang="es-MX" smtClean="0"/>
              <a:t>‹Nº›</a:t>
            </a:fld>
            <a:endParaRPr lang="es-MX"/>
          </a:p>
        </p:txBody>
      </p:sp>
    </p:spTree>
    <p:extLst>
      <p:ext uri="{BB962C8B-B14F-4D97-AF65-F5344CB8AC3E}">
        <p14:creationId xmlns:p14="http://schemas.microsoft.com/office/powerpoint/2010/main" val="723614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66F94BA5-2C33-410B-A845-2C0587A4FFE7}" type="datetimeFigureOut">
              <a:rPr lang="es-MX" smtClean="0"/>
              <a:t>01/11/2026</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CAB179CB-942C-46A4-81B8-835AB9F42DC8}" type="slidenum">
              <a:rPr lang="es-MX" smtClean="0"/>
              <a:t>‹Nº›</a:t>
            </a:fld>
            <a:endParaRPr lang="es-MX"/>
          </a:p>
        </p:txBody>
      </p:sp>
    </p:spTree>
    <p:extLst>
      <p:ext uri="{BB962C8B-B14F-4D97-AF65-F5344CB8AC3E}">
        <p14:creationId xmlns:p14="http://schemas.microsoft.com/office/powerpoint/2010/main" val="21520477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797C617B-4359-D662-33EA-71BE37917ACA}"/>
              </a:ext>
            </a:extLst>
          </p:cNvPr>
          <p:cNvSpPr txBox="1"/>
          <p:nvPr/>
        </p:nvSpPr>
        <p:spPr>
          <a:xfrm>
            <a:off x="3771205" y="2252694"/>
            <a:ext cx="5042410" cy="4308872"/>
          </a:xfrm>
          <a:prstGeom prst="rect">
            <a:avLst/>
          </a:prstGeom>
        </p:spPr>
        <p:txBody>
          <a:bodyPr wrap="square" lIns="0" tIns="0" rIns="0" bIns="0" rtlCol="0" anchor="t">
            <a:spAutoFit/>
          </a:bodyPr>
          <a:lstStyle/>
          <a:p>
            <a:pPr algn="ctr"/>
            <a:r>
              <a:rPr lang="en-US" sz="1400" dirty="0">
                <a:latin typeface="Century Gothic" panose="020B0502020202020204" pitchFamily="34" charset="0"/>
                <a:ea typeface="Glacial Indifference"/>
                <a:cs typeface="Glacial Indifference"/>
                <a:sym typeface="Glacial Indifference"/>
              </a:rPr>
              <a:t>Materia:</a:t>
            </a:r>
          </a:p>
          <a:p>
            <a:pPr algn="ctr"/>
            <a:r>
              <a:rPr lang="en-US" sz="1400" dirty="0">
                <a:latin typeface="Century Gothic" panose="020B0502020202020204" pitchFamily="34" charset="0"/>
                <a:ea typeface="Glacial Indifference"/>
                <a:cs typeface="Glacial Indifference"/>
                <a:sym typeface="Glacial Indifference"/>
              </a:rPr>
              <a:t>Taller Base de Datos</a:t>
            </a:r>
          </a:p>
          <a:p>
            <a:pPr algn="ctr"/>
            <a:endParaRPr lang="en-US" sz="1400" dirty="0">
              <a:latin typeface="Century Gothic" panose="020B0502020202020204" pitchFamily="34" charset="0"/>
              <a:ea typeface="Glacial Indifference"/>
              <a:cs typeface="Glacial Indifference"/>
              <a:sym typeface="Glacial Indifference"/>
            </a:endParaRPr>
          </a:p>
          <a:p>
            <a:pPr algn="ctr"/>
            <a:r>
              <a:rPr lang="en-US" sz="1400" dirty="0">
                <a:latin typeface="Century Gothic" panose="020B0502020202020204" pitchFamily="34" charset="0"/>
                <a:ea typeface="Glacial Indifference"/>
                <a:cs typeface="Glacial Indifference"/>
                <a:sym typeface="Glacial Indifference"/>
              </a:rPr>
              <a:t>Semestre: </a:t>
            </a:r>
          </a:p>
          <a:p>
            <a:pPr algn="ctr"/>
            <a:r>
              <a:rPr lang="en-US" sz="1400" dirty="0" err="1">
                <a:latin typeface="Century Gothic" panose="020B0502020202020204" pitchFamily="34" charset="0"/>
                <a:ea typeface="Glacial Indifference"/>
                <a:cs typeface="Glacial Indifference"/>
                <a:sym typeface="Glacial Indifference"/>
              </a:rPr>
              <a:t>Septimo</a:t>
            </a:r>
            <a:r>
              <a:rPr lang="en-US" sz="1400" dirty="0">
                <a:latin typeface="Century Gothic" panose="020B0502020202020204" pitchFamily="34" charset="0"/>
                <a:ea typeface="Glacial Indifference"/>
                <a:cs typeface="Glacial Indifference"/>
                <a:sym typeface="Glacial Indifference"/>
              </a:rPr>
              <a:t> semestre </a:t>
            </a:r>
          </a:p>
          <a:p>
            <a:pPr algn="ctr"/>
            <a:endParaRPr lang="en-US" sz="1400" dirty="0">
              <a:latin typeface="Century Gothic" panose="020B0502020202020204" pitchFamily="34" charset="0"/>
              <a:ea typeface="Glacial Indifference"/>
              <a:cs typeface="Glacial Indifference"/>
              <a:sym typeface="Glacial Indifference"/>
            </a:endParaRPr>
          </a:p>
          <a:p>
            <a:pPr algn="ctr"/>
            <a:r>
              <a:rPr lang="en-US" sz="1400" dirty="0">
                <a:latin typeface="Century Gothic" panose="020B0502020202020204" pitchFamily="34" charset="0"/>
                <a:ea typeface="Glacial Indifference"/>
                <a:cs typeface="Glacial Indifference"/>
                <a:sym typeface="Glacial Indifference"/>
              </a:rPr>
              <a:t>Especialidad:</a:t>
            </a:r>
          </a:p>
          <a:p>
            <a:pPr algn="ctr"/>
            <a:r>
              <a:rPr lang="en-US" sz="1400" dirty="0">
                <a:latin typeface="Century Gothic" panose="020B0502020202020204" pitchFamily="34" charset="0"/>
                <a:ea typeface="Glacial Indifference"/>
                <a:cs typeface="Glacial Indifference"/>
                <a:sym typeface="Glacial Indifference"/>
              </a:rPr>
              <a:t> Ingeniería en Sistemas Computacionales.</a:t>
            </a:r>
          </a:p>
          <a:p>
            <a:pPr algn="ctr"/>
            <a:endParaRPr lang="en-US" sz="1400" dirty="0">
              <a:latin typeface="Century Gothic" panose="020B0502020202020204" pitchFamily="34" charset="0"/>
              <a:ea typeface="Glacial Indifference"/>
              <a:cs typeface="Glacial Indifference"/>
              <a:sym typeface="Glacial Indifference"/>
            </a:endParaRPr>
          </a:p>
          <a:p>
            <a:pPr algn="ctr"/>
            <a:r>
              <a:rPr lang="en-US" sz="1400" dirty="0">
                <a:latin typeface="Century Gothic" panose="020B0502020202020204" pitchFamily="34" charset="0"/>
                <a:ea typeface="Glacial Indifference"/>
                <a:cs typeface="Glacial Indifference"/>
                <a:sym typeface="Glacial Indifference"/>
              </a:rPr>
              <a:t>Nombre del alumno:</a:t>
            </a:r>
          </a:p>
          <a:p>
            <a:pPr algn="ctr"/>
            <a:r>
              <a:rPr lang="en-US" sz="1400" b="1" dirty="0">
                <a:latin typeface="Century Gothic" panose="020B0502020202020204" pitchFamily="34" charset="0"/>
                <a:ea typeface="Glacial Indifference"/>
                <a:cs typeface="Glacial Indifference"/>
                <a:sym typeface="Glacial Indifference"/>
              </a:rPr>
              <a:t> Cynthia Jasmine Morales Torres / 231260014</a:t>
            </a:r>
          </a:p>
          <a:p>
            <a:pPr algn="ctr"/>
            <a:endParaRPr lang="en-US" sz="1400" dirty="0">
              <a:latin typeface="Century Gothic" panose="020B0502020202020204" pitchFamily="34" charset="0"/>
              <a:ea typeface="Glacial Indifference"/>
              <a:cs typeface="Glacial Indifference"/>
              <a:sym typeface="Glacial Indifference"/>
            </a:endParaRPr>
          </a:p>
          <a:p>
            <a:pPr algn="ctr"/>
            <a:r>
              <a:rPr lang="en-US" sz="1400" dirty="0">
                <a:latin typeface="Century Gothic" panose="020B0502020202020204" pitchFamily="34" charset="0"/>
                <a:ea typeface="Glacial Indifference"/>
                <a:cs typeface="Glacial Indifference"/>
                <a:sym typeface="Glacial Indifference"/>
              </a:rPr>
              <a:t> Nombre del docente: </a:t>
            </a:r>
          </a:p>
          <a:p>
            <a:pPr algn="ctr"/>
            <a:r>
              <a:rPr lang="en-US" sz="1400" dirty="0">
                <a:latin typeface="Century Gothic" panose="020B0502020202020204" pitchFamily="34" charset="0"/>
                <a:ea typeface="Glacial Indifference"/>
                <a:cs typeface="Glacial Indifference"/>
                <a:sym typeface="Glacial Indifference"/>
              </a:rPr>
              <a:t>Ing. Francisco Javier Mingo Velazquez </a:t>
            </a:r>
          </a:p>
          <a:p>
            <a:pPr algn="ctr"/>
            <a:endParaRPr lang="en-US" sz="1400" dirty="0">
              <a:latin typeface="Century Gothic" panose="020B0502020202020204" pitchFamily="34" charset="0"/>
              <a:ea typeface="Glacial Indifference"/>
              <a:cs typeface="Glacial Indifference"/>
              <a:sym typeface="Glacial Indifference"/>
            </a:endParaRPr>
          </a:p>
          <a:p>
            <a:pPr algn="ctr"/>
            <a:r>
              <a:rPr lang="en-US" sz="1400" dirty="0">
                <a:latin typeface="Century Gothic" panose="020B0502020202020204" pitchFamily="34" charset="0"/>
                <a:ea typeface="Glacial Indifference"/>
                <a:cs typeface="Glacial Indifference"/>
                <a:sym typeface="Glacial Indifference"/>
              </a:rPr>
              <a:t>Nombre del trabajo:</a:t>
            </a:r>
          </a:p>
          <a:p>
            <a:pPr algn="ctr"/>
            <a:r>
              <a:rPr lang="en-US" sz="1400" dirty="0">
                <a:latin typeface="Century Gothic" panose="020B0502020202020204" pitchFamily="34" charset="0"/>
                <a:ea typeface="Glacial Indifference"/>
                <a:cs typeface="Glacial Indifference"/>
                <a:sym typeface="Glacial Indifference"/>
              </a:rPr>
              <a:t>1.3 Banco de </a:t>
            </a:r>
            <a:r>
              <a:rPr lang="en-US" sz="1400" dirty="0" err="1">
                <a:latin typeface="Century Gothic" panose="020B0502020202020204" pitchFamily="34" charset="0"/>
                <a:ea typeface="Glacial Indifference"/>
                <a:cs typeface="Glacial Indifference"/>
                <a:sym typeface="Glacial Indifference"/>
              </a:rPr>
              <a:t>ejercicios</a:t>
            </a:r>
            <a:endParaRPr lang="en-US" sz="1400" dirty="0">
              <a:latin typeface="Century Gothic" panose="020B0502020202020204" pitchFamily="34" charset="0"/>
              <a:ea typeface="Glacial Indifference"/>
              <a:cs typeface="Glacial Indifference"/>
              <a:sym typeface="Glacial Indifference"/>
            </a:endParaRPr>
          </a:p>
          <a:p>
            <a:pPr algn="ctr"/>
            <a:r>
              <a:rPr lang="en-US" sz="1400" dirty="0">
                <a:latin typeface="Century Gothic" panose="020B0502020202020204" pitchFamily="34" charset="0"/>
                <a:ea typeface="Glacial Indifference"/>
                <a:cs typeface="Glacial Indifference"/>
                <a:sym typeface="Glacial Indifference"/>
              </a:rPr>
              <a:t> </a:t>
            </a:r>
          </a:p>
          <a:p>
            <a:pPr algn="ctr"/>
            <a:endParaRPr lang="en-US" sz="1400" dirty="0">
              <a:latin typeface="Century Gothic" panose="020B0502020202020204" pitchFamily="34" charset="0"/>
              <a:ea typeface="Glacial Indifference"/>
              <a:cs typeface="Glacial Indifference"/>
              <a:sym typeface="Glacial Indifference"/>
            </a:endParaRPr>
          </a:p>
          <a:p>
            <a:pPr algn="ctr"/>
            <a:r>
              <a:rPr lang="en-US" sz="1400" dirty="0">
                <a:latin typeface="Century Gothic" panose="020B0502020202020204" pitchFamily="34" charset="0"/>
                <a:ea typeface="Glacial Indifference"/>
                <a:cs typeface="Glacial Indifference"/>
                <a:sym typeface="Glacial Indifference"/>
              </a:rPr>
              <a:t> Frontera Comalapa, Chiapas. A  21 de </a:t>
            </a:r>
            <a:r>
              <a:rPr lang="en-US" sz="1400" dirty="0" err="1">
                <a:latin typeface="Century Gothic" panose="020B0502020202020204" pitchFamily="34" charset="0"/>
                <a:ea typeface="Glacial Indifference"/>
                <a:cs typeface="Glacial Indifference"/>
                <a:sym typeface="Glacial Indifference"/>
              </a:rPr>
              <a:t>octubre</a:t>
            </a:r>
            <a:r>
              <a:rPr lang="en-US" sz="1400" dirty="0">
                <a:latin typeface="Century Gothic" panose="020B0502020202020204" pitchFamily="34" charset="0"/>
                <a:ea typeface="Glacial Indifference"/>
                <a:cs typeface="Glacial Indifference"/>
                <a:sym typeface="Glacial Indifference"/>
              </a:rPr>
              <a:t> 2026.</a:t>
            </a:r>
          </a:p>
        </p:txBody>
      </p:sp>
      <p:sp>
        <p:nvSpPr>
          <p:cNvPr id="5" name="TextBox 8">
            <a:extLst>
              <a:ext uri="{FF2B5EF4-FFF2-40B4-BE49-F238E27FC236}">
                <a16:creationId xmlns:a16="http://schemas.microsoft.com/office/drawing/2014/main" id="{796A87CD-8DCA-A386-84B8-0AF924177A7B}"/>
              </a:ext>
            </a:extLst>
          </p:cNvPr>
          <p:cNvSpPr txBox="1"/>
          <p:nvPr/>
        </p:nvSpPr>
        <p:spPr>
          <a:xfrm>
            <a:off x="3575627" y="1238175"/>
            <a:ext cx="5433565" cy="684418"/>
          </a:xfrm>
          <a:prstGeom prst="rect">
            <a:avLst/>
          </a:prstGeom>
        </p:spPr>
        <p:txBody>
          <a:bodyPr wrap="square" lIns="0" tIns="0" rIns="0" bIns="0" rtlCol="0" anchor="t">
            <a:spAutoFit/>
          </a:bodyPr>
          <a:lstStyle/>
          <a:p>
            <a:pPr algn="ctr">
              <a:lnSpc>
                <a:spcPts val="2908"/>
              </a:lnSpc>
            </a:pPr>
            <a:r>
              <a:rPr lang="en-US" sz="1400" b="1" dirty="0">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400" b="1" dirty="0">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598888A0-5E7C-2A95-8840-4F84C357D5B2}"/>
              </a:ext>
            </a:extLst>
          </p:cNvPr>
          <p:cNvGrpSpPr/>
          <p:nvPr/>
        </p:nvGrpSpPr>
        <p:grpSpPr>
          <a:xfrm>
            <a:off x="1983948" y="314548"/>
            <a:ext cx="1787257" cy="911690"/>
            <a:chOff x="0" y="0"/>
            <a:chExt cx="3073400" cy="1308100"/>
          </a:xfrm>
        </p:grpSpPr>
        <p:sp>
          <p:nvSpPr>
            <p:cNvPr id="7" name="Freeform 3">
              <a:extLst>
                <a:ext uri="{FF2B5EF4-FFF2-40B4-BE49-F238E27FC236}">
                  <a16:creationId xmlns:a16="http://schemas.microsoft.com/office/drawing/2014/main" id="{4D2F91D1-5E3D-1B67-DB89-76BFEF47E2CD}"/>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06C1E960-8224-C355-B788-1202FD2FC2E6}"/>
              </a:ext>
            </a:extLst>
          </p:cNvPr>
          <p:cNvGrpSpPr/>
          <p:nvPr/>
        </p:nvGrpSpPr>
        <p:grpSpPr>
          <a:xfrm>
            <a:off x="8963376" y="290675"/>
            <a:ext cx="1234953" cy="947500"/>
            <a:chOff x="0" y="0"/>
            <a:chExt cx="1981200" cy="1625600"/>
          </a:xfrm>
        </p:grpSpPr>
        <p:sp>
          <p:nvSpPr>
            <p:cNvPr id="9" name="Freeform 5">
              <a:extLst>
                <a:ext uri="{FF2B5EF4-FFF2-40B4-BE49-F238E27FC236}">
                  <a16:creationId xmlns:a16="http://schemas.microsoft.com/office/drawing/2014/main" id="{FBE0621C-399C-D0EF-7439-554E61D065FA}"/>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478EE8C3-C216-E68D-0080-69C75BD301D6}"/>
              </a:ext>
            </a:extLst>
          </p:cNvPr>
          <p:cNvGrpSpPr/>
          <p:nvPr/>
        </p:nvGrpSpPr>
        <p:grpSpPr>
          <a:xfrm>
            <a:off x="4795965" y="368420"/>
            <a:ext cx="2514940" cy="539654"/>
            <a:chOff x="0" y="0"/>
            <a:chExt cx="4343400" cy="901700"/>
          </a:xfrm>
        </p:grpSpPr>
        <p:sp>
          <p:nvSpPr>
            <p:cNvPr id="11" name="Freeform 7">
              <a:extLst>
                <a:ext uri="{FF2B5EF4-FFF2-40B4-BE49-F238E27FC236}">
                  <a16:creationId xmlns:a16="http://schemas.microsoft.com/office/drawing/2014/main" id="{8CE933F6-26C8-F834-C4CD-55FF47BC85DF}"/>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1683181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sz="4000" dirty="0"/>
              <a:t>Introducción</a:t>
            </a:r>
          </a:p>
        </p:txBody>
      </p:sp>
      <p:sp>
        <p:nvSpPr>
          <p:cNvPr id="20" name="Contenido"/>
          <p:cNvSpPr txBox="1"/>
          <p:nvPr/>
        </p:nvSpPr>
        <p:spPr>
          <a:xfrm>
            <a:off x="838200" y="1800000"/>
            <a:ext cx="10515600" cy="3800000"/>
          </a:xfrm>
          <a:prstGeom prst="rect">
            <a:avLst/>
          </a:prstGeom>
          <a:noFill/>
        </p:spPr>
        <p:txBody>
          <a:bodyPr wrap="square" lIns="0" tIns="0" rIns="0" bIns="0" rtlCol="0" anchor="t">
            <a:noAutofit/>
          </a:bodyPr>
          <a:lstStyle/>
          <a:p>
            <a:pPr algn="l">
              <a:spcBef>
                <a:spcPts val="0"/>
              </a:spcBef>
              <a:spcAft>
                <a:spcPts val="0"/>
              </a:spcAft>
            </a:pPr>
            <a:r>
              <a:rPr lang="es-MX" sz="2400" dirty="0">
                <a:solidFill>
                  <a:srgbClr val="404040"/>
                </a:solidFill>
              </a:rPr>
              <a:t>En este banco de ejercicios se prueban las cuatro operaciones básicas (CRUD) de la API creada con Spring Boot: consultar (GET), registrar (POST), actualizar (PUT) y eliminar (DELETE) personas. Las peticiones se envían con Bruno y los resultados se comprueban directamente en la base de datos PostgreSQL con DBeaver.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sz="4000" dirty="0"/>
              <a:t>Justificación</a:t>
            </a:r>
          </a:p>
        </p:txBody>
      </p:sp>
      <p:sp>
        <p:nvSpPr>
          <p:cNvPr id="20" name="Contenido"/>
          <p:cNvSpPr txBox="1"/>
          <p:nvPr/>
        </p:nvSpPr>
        <p:spPr>
          <a:xfrm>
            <a:off x="838200" y="1800000"/>
            <a:ext cx="10515600" cy="3800000"/>
          </a:xfrm>
          <a:prstGeom prst="rect">
            <a:avLst/>
          </a:prstGeom>
          <a:noFill/>
        </p:spPr>
        <p:txBody>
          <a:bodyPr wrap="square" lIns="0" tIns="0" rIns="0" bIns="0" rtlCol="0" anchor="t">
            <a:noAutofit/>
          </a:bodyPr>
          <a:lstStyle/>
          <a:p>
            <a:pPr algn="l">
              <a:spcBef>
                <a:spcPts val="0"/>
              </a:spcBef>
              <a:spcAft>
                <a:spcPts val="0"/>
              </a:spcAft>
            </a:pPr>
            <a:r>
              <a:rPr lang="es-MX" sz="2400" dirty="0">
                <a:solidFill>
                  <a:srgbClr val="404040"/>
                </a:solidFill>
              </a:rPr>
              <a:t>Probar cada operación es necesario para asegurar que la API funciona y que los cambios realmente se guardan en la base de datos. Bruno permite enviar las peticiones de forma ordenada y ver la respuesta, y DBeaver permite comparar la tabla antes y después de cada prueba. Este ejercicio refuerza lo visto en las prácticas anteriores del Taller de Base de Datos.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sz="4000" dirty="0"/>
              <a:t>La API en ejecución</a:t>
            </a:r>
          </a:p>
        </p:txBody>
      </p:sp>
      <p:pic>
        <p:nvPicPr>
          <p:cNvPr id="11" name="Imagen 11" descr="Proyecto my-first-api ejecutándose en IntelliJ IDEA con la consola de Tomcat"/>
          <p:cNvPicPr>
            <a:picLocks noChangeAspect="1"/>
          </p:cNvPicPr>
          <p:nvPr/>
        </p:nvPicPr>
        <p:blipFill>
          <a:blip r:embed="rId2"/>
          <a:stretch>
            <a:fillRect/>
          </a:stretch>
        </p:blipFill>
        <p:spPr>
          <a:xfrm>
            <a:off x="600000" y="1850000"/>
            <a:ext cx="6600000" cy="3482377"/>
          </a:xfrm>
          <a:prstGeom prst="rect">
            <a:avLst/>
          </a:prstGeom>
          <a:ln w="9525">
            <a:solidFill>
              <a:srgbClr val="BFBFBF"/>
            </a:solidFill>
          </a:ln>
        </p:spPr>
      </p:pic>
      <p:sp>
        <p:nvSpPr>
          <p:cNvPr id="12" name="Descripción 12"/>
          <p:cNvSpPr txBox="1"/>
          <p:nvPr/>
        </p:nvSpPr>
        <p:spPr>
          <a:xfrm>
            <a:off x="7500000" y="1850000"/>
            <a:ext cx="4100000" cy="3600000"/>
          </a:xfrm>
          <a:prstGeom prst="rect">
            <a:avLst/>
          </a:prstGeom>
          <a:noFill/>
        </p:spPr>
        <p:txBody>
          <a:bodyPr wrap="square" lIns="0" tIns="0" rIns="0" bIns="0" rtlCol="0" anchor="t">
            <a:noAutofit/>
          </a:bodyPr>
          <a:lstStyle/>
          <a:p>
            <a:pPr algn="l">
              <a:spcBef>
                <a:spcPts val="0"/>
              </a:spcBef>
              <a:spcAft>
                <a:spcPts val="500"/>
              </a:spcAft>
            </a:pPr>
            <a:r>
              <a:rPr lang="es-MX" sz="1600" b="1" dirty="0">
                <a:solidFill>
                  <a:srgbClr val="404040"/>
                </a:solidFill>
              </a:rPr>
              <a:t>Ejecución del proyecto</a:t>
            </a:r>
          </a:p>
          <a:p>
            <a:pPr algn="l">
              <a:spcBef>
                <a:spcPts val="0"/>
              </a:spcBef>
              <a:spcAft>
                <a:spcPts val="0"/>
              </a:spcAft>
            </a:pPr>
            <a:r>
              <a:rPr lang="es-MX" sz="1400" dirty="0">
                <a:solidFill>
                  <a:srgbClr val="404040"/>
                </a:solidFill>
              </a:rPr>
              <a:t>Se ejecuta el proyecto desde IntelliJ IDEA. En la consola aparece que Tomcat inició en el puerto 8081 y que MyFirstApiApplication arrancó correctamente, por lo que la API ya puede recibir peticiones.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sz="4000" dirty="0"/>
              <a:t>Consultar personas (GET)</a:t>
            </a:r>
          </a:p>
        </p:txBody>
      </p:sp>
      <p:pic>
        <p:nvPicPr>
          <p:cNvPr id="11" name="Imagen 11" descr="Petición GET en Bruno con la lista de personas en formato JSON"/>
          <p:cNvPicPr>
            <a:picLocks noChangeAspect="1"/>
          </p:cNvPicPr>
          <p:nvPr/>
        </p:nvPicPr>
        <p:blipFill>
          <a:blip r:embed="rId2"/>
          <a:stretch>
            <a:fillRect/>
          </a:stretch>
        </p:blipFill>
        <p:spPr>
          <a:xfrm>
            <a:off x="600000" y="1850000"/>
            <a:ext cx="6600000" cy="3451408"/>
          </a:xfrm>
          <a:prstGeom prst="rect">
            <a:avLst/>
          </a:prstGeom>
          <a:ln w="9525">
            <a:solidFill>
              <a:srgbClr val="BFBFBF"/>
            </a:solidFill>
          </a:ln>
        </p:spPr>
      </p:pic>
      <p:sp>
        <p:nvSpPr>
          <p:cNvPr id="12" name="Descripción 12"/>
          <p:cNvSpPr txBox="1"/>
          <p:nvPr/>
        </p:nvSpPr>
        <p:spPr>
          <a:xfrm>
            <a:off x="7500000" y="1850000"/>
            <a:ext cx="4100000" cy="3600000"/>
          </a:xfrm>
          <a:prstGeom prst="rect">
            <a:avLst/>
          </a:prstGeom>
          <a:noFill/>
        </p:spPr>
        <p:txBody>
          <a:bodyPr wrap="square" lIns="0" tIns="0" rIns="0" bIns="0" rtlCol="0" anchor="t">
            <a:noAutofit/>
          </a:bodyPr>
          <a:lstStyle/>
          <a:p>
            <a:pPr algn="l">
              <a:spcBef>
                <a:spcPts val="0"/>
              </a:spcBef>
              <a:spcAft>
                <a:spcPts val="500"/>
              </a:spcAft>
            </a:pPr>
            <a:r>
              <a:rPr lang="es-MX" sz="1600" b="1" dirty="0">
                <a:solidFill>
                  <a:srgbClr val="404040"/>
                </a:solidFill>
              </a:rPr>
              <a:t>GET http://localhost:8081/api/personas</a:t>
            </a:r>
          </a:p>
          <a:p>
            <a:pPr algn="l">
              <a:spcBef>
                <a:spcPts val="0"/>
              </a:spcBef>
              <a:spcAft>
                <a:spcPts val="0"/>
              </a:spcAft>
            </a:pPr>
            <a:r>
              <a:rPr lang="es-MX" sz="1400" dirty="0">
                <a:solidFill>
                  <a:srgbClr val="404040"/>
                </a:solidFill>
              </a:rPr>
              <a:t>Con esta petición se consultan todas las personas guardadas en la base de datos. La API responde «200 OK» con una lista en formato JSON; cada registro trae su id, nombre, apellidos, dirección, teléfono y email.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sz="4000" dirty="0"/>
              <a:t>Registrar una persona (POST)</a:t>
            </a:r>
          </a:p>
        </p:txBody>
      </p:sp>
      <p:pic>
        <p:nvPicPr>
          <p:cNvPr id="11" name="Imagen 11" descr="Petición POST en Bruno con el JSON de una persona nueva y la respuesta de la API"/>
          <p:cNvPicPr>
            <a:picLocks noChangeAspect="1"/>
          </p:cNvPicPr>
          <p:nvPr/>
        </p:nvPicPr>
        <p:blipFill>
          <a:blip r:embed="rId2"/>
          <a:stretch>
            <a:fillRect/>
          </a:stretch>
        </p:blipFill>
        <p:spPr>
          <a:xfrm>
            <a:off x="600000" y="1850000"/>
            <a:ext cx="6600000" cy="3472054"/>
          </a:xfrm>
          <a:prstGeom prst="rect">
            <a:avLst/>
          </a:prstGeom>
          <a:ln w="9525">
            <a:solidFill>
              <a:srgbClr val="BFBFBF"/>
            </a:solidFill>
          </a:ln>
        </p:spPr>
      </p:pic>
      <p:sp>
        <p:nvSpPr>
          <p:cNvPr id="12" name="Descripción 12"/>
          <p:cNvSpPr txBox="1"/>
          <p:nvPr/>
        </p:nvSpPr>
        <p:spPr>
          <a:xfrm>
            <a:off x="7500000" y="1850000"/>
            <a:ext cx="4100000" cy="3600000"/>
          </a:xfrm>
          <a:prstGeom prst="rect">
            <a:avLst/>
          </a:prstGeom>
          <a:noFill/>
        </p:spPr>
        <p:txBody>
          <a:bodyPr wrap="square" lIns="0" tIns="0" rIns="0" bIns="0" rtlCol="0" anchor="t">
            <a:noAutofit/>
          </a:bodyPr>
          <a:lstStyle/>
          <a:p>
            <a:pPr algn="l">
              <a:spcBef>
                <a:spcPts val="0"/>
              </a:spcBef>
              <a:spcAft>
                <a:spcPts val="500"/>
              </a:spcAft>
            </a:pPr>
            <a:r>
              <a:rPr lang="es-MX" sz="1600" b="1" dirty="0">
                <a:solidFill>
                  <a:srgbClr val="404040"/>
                </a:solidFill>
              </a:rPr>
              <a:t>POST http://localhost:8081/api/personas</a:t>
            </a:r>
          </a:p>
          <a:p>
            <a:pPr algn="l">
              <a:spcBef>
                <a:spcPts val="0"/>
              </a:spcBef>
              <a:spcAft>
                <a:spcPts val="0"/>
              </a:spcAft>
            </a:pPr>
            <a:r>
              <a:rPr lang="es-MX" sz="1400" dirty="0">
                <a:solidFill>
                  <a:srgbClr val="404040"/>
                </a:solidFill>
              </a:rPr>
              <a:t>Sirve para registrar una persona nueva. En el Body se escribe el JSON con sus datos y, al pulsar «Send», la API responde «200 OK» con el registro guardado, al que la base de datos le asignó automáticamente el id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sz="4000" dirty="0"/>
              <a:t>Actualizar una persona (PUT)</a:t>
            </a:r>
          </a:p>
        </p:txBody>
      </p:sp>
      <p:pic>
        <p:nvPicPr>
          <p:cNvPr id="11" name="Imagen 11" descr="Registro con id 4 dentro de la respuesta del GET"/>
          <p:cNvPicPr>
            <a:picLocks noChangeAspect="1"/>
          </p:cNvPicPr>
          <p:nvPr/>
        </p:nvPicPr>
        <p:blipFill>
          <a:blip r:embed="rId2"/>
          <a:stretch>
            <a:fillRect/>
          </a:stretch>
        </p:blipFill>
        <p:spPr>
          <a:xfrm>
            <a:off x="600000" y="2566982"/>
            <a:ext cx="3000000" cy="1216036"/>
          </a:xfrm>
          <a:prstGeom prst="rect">
            <a:avLst/>
          </a:prstGeom>
          <a:ln w="9525">
            <a:solidFill>
              <a:srgbClr val="BFBFBF"/>
            </a:solidFill>
          </a:ln>
        </p:spPr>
      </p:pic>
      <p:sp>
        <p:nvSpPr>
          <p:cNvPr id="12" name="Descripción 12"/>
          <p:cNvSpPr txBox="1"/>
          <p:nvPr/>
        </p:nvSpPr>
        <p:spPr>
          <a:xfrm>
            <a:off x="600000" y="4800000"/>
            <a:ext cx="3000000" cy="1700000"/>
          </a:xfrm>
          <a:prstGeom prst="rect">
            <a:avLst/>
          </a:prstGeom>
          <a:noFill/>
        </p:spPr>
        <p:txBody>
          <a:bodyPr wrap="square" lIns="0" tIns="0" rIns="0" bIns="0" rtlCol="0" anchor="t">
            <a:noAutofit/>
          </a:bodyPr>
          <a:lstStyle/>
          <a:p>
            <a:pPr algn="l">
              <a:spcBef>
                <a:spcPts val="0"/>
              </a:spcBef>
              <a:spcAft>
                <a:spcPts val="300"/>
              </a:spcAft>
            </a:pPr>
            <a:r>
              <a:rPr lang="es-MX" sz="1400" b="1" dirty="0">
                <a:solidFill>
                  <a:srgbClr val="404040"/>
                </a:solidFill>
              </a:rPr>
              <a:t>Paso 1.</a:t>
            </a:r>
          </a:p>
          <a:p>
            <a:pPr algn="l">
              <a:spcBef>
                <a:spcPts val="0"/>
              </a:spcBef>
              <a:spcAft>
                <a:spcPts val="0"/>
              </a:spcAft>
            </a:pPr>
            <a:r>
              <a:rPr lang="es-MX" sz="1400" dirty="0">
                <a:solidFill>
                  <a:srgbClr val="404040"/>
                </a:solidFill>
              </a:rPr>
              <a:t>Se toma de la consulta GET el registro de la persona con id 4, que es la que se va a modificar.</a:t>
            </a:r>
          </a:p>
        </p:txBody>
      </p:sp>
      <p:pic>
        <p:nvPicPr>
          <p:cNvPr id="13" name="Imagen 13" descr="Cuerpo de la petición PUT con los datos originales de la persona con id 4"/>
          <p:cNvPicPr>
            <a:picLocks noChangeAspect="1"/>
          </p:cNvPicPr>
          <p:nvPr/>
        </p:nvPicPr>
        <p:blipFill>
          <a:blip r:embed="rId3"/>
          <a:stretch>
            <a:fillRect/>
          </a:stretch>
        </p:blipFill>
        <p:spPr>
          <a:xfrm>
            <a:off x="3800000" y="2179985"/>
            <a:ext cx="2600000" cy="1990029"/>
          </a:xfrm>
          <a:prstGeom prst="rect">
            <a:avLst/>
          </a:prstGeom>
          <a:ln w="9525">
            <a:solidFill>
              <a:srgbClr val="BFBFBF"/>
            </a:solidFill>
          </a:ln>
        </p:spPr>
      </p:pic>
      <p:sp>
        <p:nvSpPr>
          <p:cNvPr id="14" name="Descripción 14"/>
          <p:cNvSpPr txBox="1"/>
          <p:nvPr/>
        </p:nvSpPr>
        <p:spPr>
          <a:xfrm>
            <a:off x="3800000" y="4800000"/>
            <a:ext cx="2600000" cy="1700000"/>
          </a:xfrm>
          <a:prstGeom prst="rect">
            <a:avLst/>
          </a:prstGeom>
          <a:noFill/>
        </p:spPr>
        <p:txBody>
          <a:bodyPr wrap="square" lIns="0" tIns="0" rIns="0" bIns="0" rtlCol="0" anchor="t">
            <a:noAutofit/>
          </a:bodyPr>
          <a:lstStyle/>
          <a:p>
            <a:pPr algn="l">
              <a:spcBef>
                <a:spcPts val="0"/>
              </a:spcBef>
              <a:spcAft>
                <a:spcPts val="300"/>
              </a:spcAft>
            </a:pPr>
            <a:r>
              <a:rPr lang="es-MX" sz="1400" b="1" dirty="0">
                <a:solidFill>
                  <a:srgbClr val="404040"/>
                </a:solidFill>
              </a:rPr>
              <a:t>Paso 2.</a:t>
            </a:r>
          </a:p>
          <a:p>
            <a:pPr algn="l">
              <a:spcBef>
                <a:spcPts val="0"/>
              </a:spcBef>
              <a:spcAft>
                <a:spcPts val="0"/>
              </a:spcAft>
            </a:pPr>
            <a:r>
              <a:rPr lang="es-MX" sz="1400" dirty="0">
                <a:solidFill>
                  <a:srgbClr val="404040"/>
                </a:solidFill>
              </a:rPr>
              <a:t>Ese JSON se pega en el Body de una petición PUT, con los datos originales (email y teléfono anteriores).</a:t>
            </a:r>
          </a:p>
        </p:txBody>
      </p:sp>
      <p:pic>
        <p:nvPicPr>
          <p:cNvPr id="15" name="Imagen 15" descr="Petición PUT en Bruno a /api/personas/4 con la respuesta 200 OK"/>
          <p:cNvPicPr>
            <a:picLocks noChangeAspect="1"/>
          </p:cNvPicPr>
          <p:nvPr/>
        </p:nvPicPr>
        <p:blipFill>
          <a:blip r:embed="rId4"/>
          <a:stretch>
            <a:fillRect/>
          </a:stretch>
        </p:blipFill>
        <p:spPr>
          <a:xfrm>
            <a:off x="6600000" y="1863738"/>
            <a:ext cx="5000000" cy="2622523"/>
          </a:xfrm>
          <a:prstGeom prst="rect">
            <a:avLst/>
          </a:prstGeom>
          <a:ln w="9525">
            <a:solidFill>
              <a:srgbClr val="BFBFBF"/>
            </a:solidFill>
          </a:ln>
        </p:spPr>
      </p:pic>
      <p:sp>
        <p:nvSpPr>
          <p:cNvPr id="16" name="Descripción 16"/>
          <p:cNvSpPr txBox="1"/>
          <p:nvPr/>
        </p:nvSpPr>
        <p:spPr>
          <a:xfrm>
            <a:off x="6600000" y="4800000"/>
            <a:ext cx="5000000" cy="1700000"/>
          </a:xfrm>
          <a:prstGeom prst="rect">
            <a:avLst/>
          </a:prstGeom>
          <a:noFill/>
        </p:spPr>
        <p:txBody>
          <a:bodyPr wrap="square" lIns="0" tIns="0" rIns="0" bIns="0" rtlCol="0" anchor="t">
            <a:noAutofit/>
          </a:bodyPr>
          <a:lstStyle/>
          <a:p>
            <a:pPr algn="l">
              <a:spcBef>
                <a:spcPts val="0"/>
              </a:spcBef>
              <a:spcAft>
                <a:spcPts val="300"/>
              </a:spcAft>
            </a:pPr>
            <a:r>
              <a:rPr lang="es-MX" sz="1400" b="1" dirty="0">
                <a:solidFill>
                  <a:srgbClr val="404040"/>
                </a:solidFill>
              </a:rPr>
              <a:t>Paso 3.</a:t>
            </a:r>
          </a:p>
          <a:p>
            <a:pPr algn="l">
              <a:spcBef>
                <a:spcPts val="0"/>
              </a:spcBef>
              <a:spcAft>
                <a:spcPts val="0"/>
              </a:spcAft>
            </a:pPr>
            <a:r>
              <a:rPr lang="es-MX" sz="1400" dirty="0">
                <a:solidFill>
                  <a:srgbClr val="404040"/>
                </a:solidFill>
              </a:rPr>
              <a:t>Se cambian el email y el teléfono y se envía a http://localhost:8081/api/personas/4. La API responde «200 OK» con el registro ya actualizado.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sz="4000" dirty="0"/>
              <a:t>PUT: comprobación en DBeaver</a:t>
            </a:r>
          </a:p>
        </p:txBody>
      </p:sp>
      <p:pic>
        <p:nvPicPr>
          <p:cNvPr id="11" name="Imagen 11" descr="Tabla personas en DBeaver antes de la actualización"/>
          <p:cNvPicPr>
            <a:picLocks noChangeAspect="1"/>
          </p:cNvPicPr>
          <p:nvPr/>
        </p:nvPicPr>
        <p:blipFill>
          <a:blip r:embed="rId2"/>
          <a:stretch>
            <a:fillRect/>
          </a:stretch>
        </p:blipFill>
        <p:spPr>
          <a:xfrm>
            <a:off x="600000" y="1800000"/>
            <a:ext cx="6400000" cy="2292388"/>
          </a:xfrm>
          <a:prstGeom prst="rect">
            <a:avLst/>
          </a:prstGeom>
          <a:ln w="9525">
            <a:solidFill>
              <a:srgbClr val="BFBFBF"/>
            </a:solidFill>
          </a:ln>
        </p:spPr>
      </p:pic>
      <p:sp>
        <p:nvSpPr>
          <p:cNvPr id="12" name="Descripción 12"/>
          <p:cNvSpPr txBox="1"/>
          <p:nvPr/>
        </p:nvSpPr>
        <p:spPr>
          <a:xfrm>
            <a:off x="7400000" y="1800000"/>
            <a:ext cx="4200000" cy="2292388"/>
          </a:xfrm>
          <a:prstGeom prst="rect">
            <a:avLst/>
          </a:prstGeom>
          <a:noFill/>
        </p:spPr>
        <p:txBody>
          <a:bodyPr wrap="square" lIns="0" tIns="0" rIns="0" bIns="0" rtlCol="0" anchor="t">
            <a:noAutofit/>
          </a:bodyPr>
          <a:lstStyle/>
          <a:p>
            <a:pPr algn="l">
              <a:spcBef>
                <a:spcPts val="0"/>
              </a:spcBef>
              <a:spcAft>
                <a:spcPts val="400"/>
              </a:spcAft>
            </a:pPr>
            <a:r>
              <a:rPr lang="es-MX" sz="1600" b="1" dirty="0">
                <a:solidFill>
                  <a:srgbClr val="404040"/>
                </a:solidFill>
              </a:rPr>
              <a:t>Antes</a:t>
            </a:r>
          </a:p>
          <a:p>
            <a:pPr algn="l">
              <a:spcBef>
                <a:spcPts val="0"/>
              </a:spcBef>
              <a:spcAft>
                <a:spcPts val="0"/>
              </a:spcAft>
            </a:pPr>
            <a:r>
              <a:rPr lang="es-MX" sz="1400" dirty="0">
                <a:solidFill>
                  <a:srgbClr val="404040"/>
                </a:solidFill>
              </a:rPr>
              <a:t>Tabla «personas» de la base my_first_api en DBeaver, con 5 registros. La persona con id 4 todavía tiene el email anterior.</a:t>
            </a:r>
          </a:p>
        </p:txBody>
      </p:sp>
      <p:pic>
        <p:nvPicPr>
          <p:cNvPr id="13" name="Imagen 13" descr="Tabla personas en DBeaver después de la actualización"/>
          <p:cNvPicPr>
            <a:picLocks noChangeAspect="1"/>
          </p:cNvPicPr>
          <p:nvPr/>
        </p:nvPicPr>
        <p:blipFill>
          <a:blip r:embed="rId3"/>
          <a:stretch>
            <a:fillRect/>
          </a:stretch>
        </p:blipFill>
        <p:spPr>
          <a:xfrm>
            <a:off x="600000" y="4442388"/>
            <a:ext cx="6400000" cy="1975391"/>
          </a:xfrm>
          <a:prstGeom prst="rect">
            <a:avLst/>
          </a:prstGeom>
          <a:ln w="9525">
            <a:solidFill>
              <a:srgbClr val="BFBFBF"/>
            </a:solidFill>
          </a:ln>
        </p:spPr>
      </p:pic>
      <p:sp>
        <p:nvSpPr>
          <p:cNvPr id="14" name="Descripción 14"/>
          <p:cNvSpPr txBox="1"/>
          <p:nvPr/>
        </p:nvSpPr>
        <p:spPr>
          <a:xfrm>
            <a:off x="7400000" y="4442388"/>
            <a:ext cx="4200000" cy="1975391"/>
          </a:xfrm>
          <a:prstGeom prst="rect">
            <a:avLst/>
          </a:prstGeom>
          <a:noFill/>
        </p:spPr>
        <p:txBody>
          <a:bodyPr wrap="square" lIns="0" tIns="0" rIns="0" bIns="0" rtlCol="0" anchor="t">
            <a:noAutofit/>
          </a:bodyPr>
          <a:lstStyle/>
          <a:p>
            <a:pPr algn="l">
              <a:spcBef>
                <a:spcPts val="0"/>
              </a:spcBef>
              <a:spcAft>
                <a:spcPts val="400"/>
              </a:spcAft>
            </a:pPr>
            <a:r>
              <a:rPr lang="es-MX" sz="1600" b="1" dirty="0">
                <a:solidFill>
                  <a:srgbClr val="404040"/>
                </a:solidFill>
              </a:rPr>
              <a:t>Después</a:t>
            </a:r>
          </a:p>
          <a:p>
            <a:pPr algn="l">
              <a:spcBef>
                <a:spcPts val="0"/>
              </a:spcBef>
              <a:spcAft>
                <a:spcPts val="0"/>
              </a:spcAft>
            </a:pPr>
            <a:r>
              <a:rPr lang="es-MX" sz="1400" dirty="0">
                <a:solidFill>
                  <a:srgbClr val="404040"/>
                </a:solidFill>
              </a:rPr>
              <a:t>Tras el PUT, el registro con id 4 aparece con el email actualizado, así que el cambio sí se guardó en la base de datos. La fila se muestra después de la 5 porque PostgreSQL guarda la modificación como una versión nueva del registro.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sz="4000" dirty="0"/>
              <a:t>Eliminar una persona (DELETE)</a:t>
            </a:r>
          </a:p>
        </p:txBody>
      </p:sp>
      <p:pic>
        <p:nvPicPr>
          <p:cNvPr id="11" name="Imagen 11" descr="Petición DELETE preparada en Bruno para el id 1"/>
          <p:cNvPicPr>
            <a:picLocks noChangeAspect="1"/>
          </p:cNvPicPr>
          <p:nvPr/>
        </p:nvPicPr>
        <p:blipFill>
          <a:blip r:embed="rId2"/>
          <a:stretch>
            <a:fillRect/>
          </a:stretch>
        </p:blipFill>
        <p:spPr>
          <a:xfrm>
            <a:off x="600000" y="1900000"/>
            <a:ext cx="5300000" cy="2793691"/>
          </a:xfrm>
          <a:prstGeom prst="rect">
            <a:avLst/>
          </a:prstGeom>
          <a:ln w="9525">
            <a:solidFill>
              <a:srgbClr val="BFBFBF"/>
            </a:solidFill>
          </a:ln>
        </p:spPr>
      </p:pic>
      <p:sp>
        <p:nvSpPr>
          <p:cNvPr id="12" name="Descripción 12"/>
          <p:cNvSpPr txBox="1"/>
          <p:nvPr/>
        </p:nvSpPr>
        <p:spPr>
          <a:xfrm>
            <a:off x="600000" y="4863691"/>
            <a:ext cx="5300000" cy="1500000"/>
          </a:xfrm>
          <a:prstGeom prst="rect">
            <a:avLst/>
          </a:prstGeom>
          <a:noFill/>
        </p:spPr>
        <p:txBody>
          <a:bodyPr wrap="square" lIns="0" tIns="0" rIns="0" bIns="0" rtlCol="0" anchor="t">
            <a:noAutofit/>
          </a:bodyPr>
          <a:lstStyle/>
          <a:p>
            <a:pPr algn="l">
              <a:spcBef>
                <a:spcPts val="0"/>
              </a:spcBef>
              <a:spcAft>
                <a:spcPts val="300"/>
              </a:spcAft>
            </a:pPr>
            <a:r>
              <a:rPr lang="es-MX" sz="1400" b="1" dirty="0">
                <a:solidFill>
                  <a:srgbClr val="404040"/>
                </a:solidFill>
              </a:rPr>
              <a:t>Paso 1.</a:t>
            </a:r>
          </a:p>
          <a:p>
            <a:pPr algn="l">
              <a:spcBef>
                <a:spcPts val="0"/>
              </a:spcBef>
              <a:spcAft>
                <a:spcPts val="0"/>
              </a:spcAft>
            </a:pPr>
            <a:r>
              <a:rPr lang="es-MX" sz="1400" dirty="0">
                <a:solidFill>
                  <a:srgbClr val="404040"/>
                </a:solidFill>
              </a:rPr>
              <a:t>Se prepara la petición DELETE a http://localhost:8081/api/personas/1. El número final es el id del registro que se quiere eliminar (la persona con id 1).</a:t>
            </a:r>
          </a:p>
        </p:txBody>
      </p:sp>
      <p:pic>
        <p:nvPicPr>
          <p:cNvPr id="13" name="Imagen 13" descr="Respuesta 204 No Content de la petición DELETE"/>
          <p:cNvPicPr>
            <a:picLocks noChangeAspect="1"/>
          </p:cNvPicPr>
          <p:nvPr/>
        </p:nvPicPr>
        <p:blipFill>
          <a:blip r:embed="rId3"/>
          <a:stretch>
            <a:fillRect/>
          </a:stretch>
        </p:blipFill>
        <p:spPr>
          <a:xfrm>
            <a:off x="6300000" y="1900000"/>
            <a:ext cx="5300000" cy="2793691"/>
          </a:xfrm>
          <a:prstGeom prst="rect">
            <a:avLst/>
          </a:prstGeom>
          <a:ln w="9525">
            <a:solidFill>
              <a:srgbClr val="BFBFBF"/>
            </a:solidFill>
          </a:ln>
        </p:spPr>
      </p:pic>
      <p:sp>
        <p:nvSpPr>
          <p:cNvPr id="14" name="Descripción 14"/>
          <p:cNvSpPr txBox="1"/>
          <p:nvPr/>
        </p:nvSpPr>
        <p:spPr>
          <a:xfrm>
            <a:off x="6300000" y="4863691"/>
            <a:ext cx="5300000" cy="1500000"/>
          </a:xfrm>
          <a:prstGeom prst="rect">
            <a:avLst/>
          </a:prstGeom>
          <a:noFill/>
        </p:spPr>
        <p:txBody>
          <a:bodyPr wrap="square" lIns="0" tIns="0" rIns="0" bIns="0" rtlCol="0" anchor="t">
            <a:noAutofit/>
          </a:bodyPr>
          <a:lstStyle/>
          <a:p>
            <a:pPr algn="l">
              <a:spcBef>
                <a:spcPts val="0"/>
              </a:spcBef>
              <a:spcAft>
                <a:spcPts val="300"/>
              </a:spcAft>
            </a:pPr>
            <a:r>
              <a:rPr lang="es-MX" sz="1400" b="1" dirty="0">
                <a:solidFill>
                  <a:srgbClr val="404040"/>
                </a:solidFill>
              </a:rPr>
              <a:t>Paso 2.</a:t>
            </a:r>
          </a:p>
          <a:p>
            <a:pPr algn="l">
              <a:spcBef>
                <a:spcPts val="0"/>
              </a:spcBef>
              <a:spcAft>
                <a:spcPts val="0"/>
              </a:spcAft>
            </a:pPr>
            <a:r>
              <a:rPr lang="es-MX" sz="1400" dirty="0">
                <a:solidFill>
                  <a:srgbClr val="404040"/>
                </a:solidFill>
              </a:rPr>
              <a:t>Al pulsar «Send», la API responde «204 No Content»: el registro se eliminó correctamente y la respuesta no trae contenido.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sz="4000" dirty="0"/>
              <a:t>DELETE: comprobación en DBeaver</a:t>
            </a:r>
          </a:p>
        </p:txBody>
      </p:sp>
      <p:pic>
        <p:nvPicPr>
          <p:cNvPr id="11" name="Imagen 11" descr="Tabla personas en DBeaver antes de eliminar"/>
          <p:cNvPicPr>
            <a:picLocks noChangeAspect="1"/>
          </p:cNvPicPr>
          <p:nvPr/>
        </p:nvPicPr>
        <p:blipFill>
          <a:blip r:embed="rId2"/>
          <a:stretch>
            <a:fillRect/>
          </a:stretch>
        </p:blipFill>
        <p:spPr>
          <a:xfrm>
            <a:off x="600000" y="1900000"/>
            <a:ext cx="6400000" cy="1695099"/>
          </a:xfrm>
          <a:prstGeom prst="rect">
            <a:avLst/>
          </a:prstGeom>
          <a:ln w="9525">
            <a:solidFill>
              <a:srgbClr val="BFBFBF"/>
            </a:solidFill>
          </a:ln>
        </p:spPr>
      </p:pic>
      <p:sp>
        <p:nvSpPr>
          <p:cNvPr id="12" name="Descripción 12"/>
          <p:cNvSpPr txBox="1"/>
          <p:nvPr/>
        </p:nvSpPr>
        <p:spPr>
          <a:xfrm>
            <a:off x="7400000" y="1900000"/>
            <a:ext cx="4200000" cy="1695099"/>
          </a:xfrm>
          <a:prstGeom prst="rect">
            <a:avLst/>
          </a:prstGeom>
          <a:noFill/>
        </p:spPr>
        <p:txBody>
          <a:bodyPr wrap="square" lIns="0" tIns="0" rIns="0" bIns="0" rtlCol="0" anchor="t">
            <a:noAutofit/>
          </a:bodyPr>
          <a:lstStyle/>
          <a:p>
            <a:pPr algn="l">
              <a:spcBef>
                <a:spcPts val="0"/>
              </a:spcBef>
              <a:spcAft>
                <a:spcPts val="400"/>
              </a:spcAft>
            </a:pPr>
            <a:r>
              <a:rPr lang="es-MX" sz="1600" b="1" dirty="0">
                <a:solidFill>
                  <a:srgbClr val="404040"/>
                </a:solidFill>
              </a:rPr>
              <a:t>Antes</a:t>
            </a:r>
          </a:p>
          <a:p>
            <a:pPr algn="l">
              <a:spcBef>
                <a:spcPts val="0"/>
              </a:spcBef>
              <a:spcAft>
                <a:spcPts val="0"/>
              </a:spcAft>
            </a:pPr>
            <a:r>
              <a:rPr lang="es-MX" sz="1400" dirty="0">
                <a:solidFill>
                  <a:srgbClr val="404040"/>
                </a:solidFill>
              </a:rPr>
              <a:t>La tabla «personas» tiene 5 registros, incluido el de la persona con id 1.</a:t>
            </a:r>
          </a:p>
        </p:txBody>
      </p:sp>
      <p:pic>
        <p:nvPicPr>
          <p:cNvPr id="13" name="Imagen 13" descr="Tabla personas en DBeaver después de eliminar"/>
          <p:cNvPicPr>
            <a:picLocks noChangeAspect="1"/>
          </p:cNvPicPr>
          <p:nvPr/>
        </p:nvPicPr>
        <p:blipFill>
          <a:blip r:embed="rId3"/>
          <a:stretch>
            <a:fillRect/>
          </a:stretch>
        </p:blipFill>
        <p:spPr>
          <a:xfrm>
            <a:off x="600000" y="4095099"/>
            <a:ext cx="6400000" cy="1676514"/>
          </a:xfrm>
          <a:prstGeom prst="rect">
            <a:avLst/>
          </a:prstGeom>
          <a:ln w="9525">
            <a:solidFill>
              <a:srgbClr val="BFBFBF"/>
            </a:solidFill>
          </a:ln>
        </p:spPr>
      </p:pic>
      <p:sp>
        <p:nvSpPr>
          <p:cNvPr id="14" name="Descripción 14"/>
          <p:cNvSpPr txBox="1"/>
          <p:nvPr/>
        </p:nvSpPr>
        <p:spPr>
          <a:xfrm>
            <a:off x="7400000" y="4095099"/>
            <a:ext cx="4200000" cy="1676514"/>
          </a:xfrm>
          <a:prstGeom prst="rect">
            <a:avLst/>
          </a:prstGeom>
          <a:noFill/>
        </p:spPr>
        <p:txBody>
          <a:bodyPr wrap="square" lIns="0" tIns="0" rIns="0" bIns="0" rtlCol="0" anchor="t">
            <a:noAutofit/>
          </a:bodyPr>
          <a:lstStyle/>
          <a:p>
            <a:pPr algn="l">
              <a:spcBef>
                <a:spcPts val="0"/>
              </a:spcBef>
              <a:spcAft>
                <a:spcPts val="400"/>
              </a:spcAft>
            </a:pPr>
            <a:r>
              <a:rPr lang="es-MX" sz="1600" b="1" dirty="0">
                <a:solidFill>
                  <a:srgbClr val="404040"/>
                </a:solidFill>
              </a:rPr>
              <a:t>Después</a:t>
            </a:r>
          </a:p>
          <a:p>
            <a:pPr algn="l">
              <a:spcBef>
                <a:spcPts val="0"/>
              </a:spcBef>
              <a:spcAft>
                <a:spcPts val="0"/>
              </a:spcAft>
            </a:pPr>
            <a:r>
              <a:rPr lang="es-MX" sz="1400" dirty="0">
                <a:solidFill>
                  <a:srgbClr val="404040"/>
                </a:solidFill>
              </a:rPr>
              <a:t>El registro con id 1 ya no aparece y quedan 4 personas. Esto confirma que el DELETE sí eliminó el dato de la base de datos.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sz="4000" dirty="0"/>
              <a:t>Conclusión</a:t>
            </a:r>
          </a:p>
        </p:txBody>
      </p:sp>
      <p:sp>
        <p:nvSpPr>
          <p:cNvPr id="20" name="Contenido"/>
          <p:cNvSpPr txBox="1"/>
          <p:nvPr/>
        </p:nvSpPr>
        <p:spPr>
          <a:xfrm>
            <a:off x="838200" y="1800000"/>
            <a:ext cx="10515600" cy="3800000"/>
          </a:xfrm>
          <a:prstGeom prst="rect">
            <a:avLst/>
          </a:prstGeom>
          <a:noFill/>
        </p:spPr>
        <p:txBody>
          <a:bodyPr wrap="square" lIns="0" tIns="0" rIns="0" bIns="0" rtlCol="0" anchor="t">
            <a:noAutofit/>
          </a:bodyPr>
          <a:lstStyle/>
          <a:p>
            <a:pPr algn="l">
              <a:spcBef>
                <a:spcPts val="0"/>
              </a:spcBef>
              <a:spcAft>
                <a:spcPts val="0"/>
              </a:spcAft>
            </a:pPr>
            <a:r>
              <a:rPr lang="es-MX" sz="2200" dirty="0">
                <a:solidFill>
                  <a:srgbClr val="404040"/>
                </a:solidFill>
              </a:rPr>
              <a:t>Las cuatro operaciones funcionaron correctamente: GET devolvió la lista de personas, POST creó un registro nuevo con su id, PUT modificó los datos de la persona con id 4 y DELETE eliminó la de id 1. Con DBeaver se comprobó que cada cambio quedó reflejado en la tabla personas, lo que confirma que la API y la base de datos están bien conectadas.</a:t>
            </a:r>
          </a:p>
        </p:txBody>
      </p:sp>
    </p:spTree>
  </p:cSld>
  <p:clrMapOvr>
    <a:masterClrMapping/>
  </p:clrMapOvr>
</p:sld>
</file>

<file path=ppt/theme/theme1.xml><?xml version="1.0" encoding="utf-8"?>
<a:theme xmlns:a="http://schemas.openxmlformats.org/drawingml/2006/main" name="Gota">
  <a:themeElements>
    <a:clrScheme name="Gota">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Gota</Template>
  <TotalTime>78</TotalTime>
  <Words>744</Words>
  <Application>Microsoft Office PowerPoint</Application>
  <PresentationFormat>Panorámica</PresentationFormat>
  <Paragraphs>59</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Century Gothic</vt:lpstr>
      <vt:lpstr>Tw Cen MT</vt:lpstr>
      <vt:lpstr>Gota</vt:lpstr>
      <vt:lpstr>Presentación de PowerPoint</vt:lpstr>
      <vt:lpstr>Introducción</vt:lpstr>
      <vt:lpstr>Justificación</vt:lpstr>
      <vt:lpstr>La API en ejecución</vt:lpstr>
      <vt:lpstr>Consultar personas (GET)</vt:lpstr>
      <vt:lpstr>Registrar una persona (POST)</vt:lpstr>
      <vt:lpstr>Actualizar una persona (PUT)</vt:lpstr>
      <vt:lpstr>PUT: comprobación en DBeaver</vt:lpstr>
      <vt:lpstr>Eliminar una persona (DELETE)</vt:lpstr>
      <vt:lpstr>DELETE: comprobación en DBeaver</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2</cp:revision>
  <dcterms:created xsi:type="dcterms:W3CDTF">2026-11-02T00:55:37Z</dcterms:created>
  <dcterms:modified xsi:type="dcterms:W3CDTF">2026-11-02T02:20:42Z</dcterms:modified>
</cp:coreProperties>
</file>