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4" r:id="rId3"/>
    <p:sldId id="265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69865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36863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54723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7731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27070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63725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7164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92645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74382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09110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28367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314141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673393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751871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742862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40664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BA9701-412D-4BF7-9830-D6E9FA3AA59A}" type="datetimeFigureOut">
              <a:rPr lang="es-MX" smtClean="0"/>
              <a:t>01/11/2026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2981A689-A7A7-471D-9D47-51181C042B2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23383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9">
            <a:extLst>
              <a:ext uri="{FF2B5EF4-FFF2-40B4-BE49-F238E27FC236}">
                <a16:creationId xmlns:a16="http://schemas.microsoft.com/office/drawing/2014/main" id="{2B88398C-247A-2514-6441-3F16F5D4E4D5}"/>
              </a:ext>
            </a:extLst>
          </p:cNvPr>
          <p:cNvSpPr txBox="1"/>
          <p:nvPr/>
        </p:nvSpPr>
        <p:spPr>
          <a:xfrm>
            <a:off x="3771205" y="2252694"/>
            <a:ext cx="5042410" cy="4308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400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Materia:</a:t>
            </a:r>
          </a:p>
          <a:p>
            <a:pPr algn="ctr"/>
            <a:r>
              <a:rPr lang="en-US" sz="1400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Taller Base de Datos</a:t>
            </a:r>
          </a:p>
          <a:p>
            <a:pPr algn="ctr"/>
            <a:endParaRPr lang="en-US" sz="1400" dirty="0"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400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Semestre: </a:t>
            </a:r>
          </a:p>
          <a:p>
            <a:pPr algn="ctr"/>
            <a:r>
              <a:rPr lang="en-US" sz="1400" dirty="0" err="1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Septimo</a:t>
            </a:r>
            <a:r>
              <a:rPr lang="en-US" sz="1400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semestre </a:t>
            </a:r>
          </a:p>
          <a:p>
            <a:pPr algn="ctr"/>
            <a:endParaRPr lang="en-US" sz="1400" dirty="0"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400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Especialidad:</a:t>
            </a:r>
          </a:p>
          <a:p>
            <a:pPr algn="ctr"/>
            <a:r>
              <a:rPr lang="en-US" sz="1400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Ingeniería en Sistemas Computacionales.</a:t>
            </a:r>
          </a:p>
          <a:p>
            <a:pPr algn="ctr"/>
            <a:endParaRPr lang="en-US" sz="1400" dirty="0"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400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alumno:</a:t>
            </a:r>
          </a:p>
          <a:p>
            <a:pPr algn="ctr"/>
            <a:r>
              <a:rPr lang="en-US" sz="1400" b="1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Cynthia Jasmine Morales Torres / 231260014</a:t>
            </a:r>
          </a:p>
          <a:p>
            <a:pPr algn="ctr"/>
            <a:endParaRPr lang="en-US" sz="1400" dirty="0"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400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Nombre del docente: </a:t>
            </a:r>
          </a:p>
          <a:p>
            <a:pPr algn="ctr"/>
            <a:r>
              <a:rPr lang="en-US" sz="1400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Ing. Francisco Javier Mingo Velazquez </a:t>
            </a:r>
          </a:p>
          <a:p>
            <a:pPr algn="ctr"/>
            <a:endParaRPr lang="en-US" sz="1400" dirty="0"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400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trabajo:</a:t>
            </a:r>
          </a:p>
          <a:p>
            <a:pPr algn="ctr"/>
            <a:r>
              <a:rPr lang="en-US" sz="1400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1.2 </a:t>
            </a:r>
            <a:r>
              <a:rPr lang="en-US" sz="1400" dirty="0" err="1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Reporte</a:t>
            </a:r>
            <a:r>
              <a:rPr lang="en-US" sz="1400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</a:t>
            </a:r>
            <a:r>
              <a:rPr lang="en-US" sz="1400" dirty="0" err="1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practica</a:t>
            </a:r>
            <a:endParaRPr lang="en-US" sz="1400" dirty="0"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400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</a:p>
          <a:p>
            <a:pPr algn="ctr"/>
            <a:endParaRPr lang="en-US" sz="1400" dirty="0"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400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Frontera Comalapa, Chiapas. A  18 de </a:t>
            </a:r>
            <a:r>
              <a:rPr lang="en-US" sz="1400" dirty="0" err="1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octubre</a:t>
            </a:r>
            <a:r>
              <a:rPr lang="en-US" sz="1400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2026.</a:t>
            </a:r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58FE0DBD-6283-B7DA-D0D1-6022691F944E}"/>
              </a:ext>
            </a:extLst>
          </p:cNvPr>
          <p:cNvSpPr txBox="1"/>
          <p:nvPr/>
        </p:nvSpPr>
        <p:spPr>
          <a:xfrm>
            <a:off x="3575627" y="1238175"/>
            <a:ext cx="5433565" cy="6844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08"/>
              </a:lnSpc>
            </a:pPr>
            <a:r>
              <a:rPr lang="en-US" sz="1400" b="1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Instituto Tecnológico de Frontera Comalapa </a:t>
            </a:r>
          </a:p>
          <a:p>
            <a:pPr algn="ctr">
              <a:lnSpc>
                <a:spcPts val="2908"/>
              </a:lnSpc>
            </a:pPr>
            <a:r>
              <a:rPr lang="en-US" sz="1400" b="1" dirty="0"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Modalidad Mixta</a:t>
            </a:r>
          </a:p>
        </p:txBody>
      </p:sp>
      <p:grpSp>
        <p:nvGrpSpPr>
          <p:cNvPr id="6" name="Group 2">
            <a:extLst>
              <a:ext uri="{FF2B5EF4-FFF2-40B4-BE49-F238E27FC236}">
                <a16:creationId xmlns:a16="http://schemas.microsoft.com/office/drawing/2014/main" id="{B81F7C70-D414-D2AB-392B-C5E34DE97A00}"/>
              </a:ext>
            </a:extLst>
          </p:cNvPr>
          <p:cNvGrpSpPr/>
          <p:nvPr/>
        </p:nvGrpSpPr>
        <p:grpSpPr>
          <a:xfrm>
            <a:off x="1983948" y="314548"/>
            <a:ext cx="1787257" cy="911690"/>
            <a:chOff x="0" y="0"/>
            <a:chExt cx="3073400" cy="1308100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EE06C70C-003E-B364-0E94-138F19DA8B4D}"/>
                </a:ext>
              </a:extLst>
            </p:cNvPr>
            <p:cNvSpPr/>
            <p:nvPr/>
          </p:nvSpPr>
          <p:spPr>
            <a:xfrm>
              <a:off x="0" y="0"/>
              <a:ext cx="3073400" cy="1308100"/>
            </a:xfrm>
            <a:custGeom>
              <a:avLst/>
              <a:gdLst/>
              <a:ahLst/>
              <a:cxnLst/>
              <a:rect l="l" t="t" r="r" b="b"/>
              <a:pathLst>
                <a:path w="3073400" h="1308100">
                  <a:moveTo>
                    <a:pt x="0" y="0"/>
                  </a:moveTo>
                  <a:lnTo>
                    <a:pt x="3073400" y="0"/>
                  </a:lnTo>
                  <a:lnTo>
                    <a:pt x="3073400" y="1308100"/>
                  </a:lnTo>
                  <a:lnTo>
                    <a:pt x="0" y="130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8" name="Group 4">
            <a:extLst>
              <a:ext uri="{FF2B5EF4-FFF2-40B4-BE49-F238E27FC236}">
                <a16:creationId xmlns:a16="http://schemas.microsoft.com/office/drawing/2014/main" id="{0B9C226E-9935-FF2A-C544-C21D46CF56F8}"/>
              </a:ext>
            </a:extLst>
          </p:cNvPr>
          <p:cNvGrpSpPr/>
          <p:nvPr/>
        </p:nvGrpSpPr>
        <p:grpSpPr>
          <a:xfrm>
            <a:off x="8963376" y="290675"/>
            <a:ext cx="1234953" cy="947500"/>
            <a:chOff x="0" y="0"/>
            <a:chExt cx="1981200" cy="16256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7D1EBD74-C0C5-ED51-FE86-04E5069C5B9F}"/>
                </a:ext>
              </a:extLst>
            </p:cNvPr>
            <p:cNvSpPr/>
            <p:nvPr/>
          </p:nvSpPr>
          <p:spPr>
            <a:xfrm>
              <a:off x="0" y="0"/>
              <a:ext cx="1981200" cy="1625600"/>
            </a:xfrm>
            <a:custGeom>
              <a:avLst/>
              <a:gdLst/>
              <a:ahLst/>
              <a:cxnLst/>
              <a:rect l="l" t="t" r="r" b="b"/>
              <a:pathLst>
                <a:path w="1981200" h="1625600">
                  <a:moveTo>
                    <a:pt x="0" y="0"/>
                  </a:moveTo>
                  <a:lnTo>
                    <a:pt x="1981200" y="0"/>
                  </a:lnTo>
                  <a:lnTo>
                    <a:pt x="1981200" y="1625600"/>
                  </a:lnTo>
                  <a:lnTo>
                    <a:pt x="0" y="1625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6">
            <a:extLst>
              <a:ext uri="{FF2B5EF4-FFF2-40B4-BE49-F238E27FC236}">
                <a16:creationId xmlns:a16="http://schemas.microsoft.com/office/drawing/2014/main" id="{B02F427D-5AC5-1E5A-278B-50869AD12D8D}"/>
              </a:ext>
            </a:extLst>
          </p:cNvPr>
          <p:cNvGrpSpPr/>
          <p:nvPr/>
        </p:nvGrpSpPr>
        <p:grpSpPr>
          <a:xfrm>
            <a:off x="4795965" y="368420"/>
            <a:ext cx="2514940" cy="539654"/>
            <a:chOff x="0" y="0"/>
            <a:chExt cx="4343400" cy="901700"/>
          </a:xfrm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AC253541-A9DB-EC23-70E7-C586A63BE7FA}"/>
                </a:ext>
              </a:extLst>
            </p:cNvPr>
            <p:cNvSpPr/>
            <p:nvPr/>
          </p:nvSpPr>
          <p:spPr>
            <a:xfrm>
              <a:off x="0" y="0"/>
              <a:ext cx="4343400" cy="901700"/>
            </a:xfrm>
            <a:custGeom>
              <a:avLst/>
              <a:gdLst/>
              <a:ahLst/>
              <a:cxnLst/>
              <a:rect l="l" t="t" r="r" b="b"/>
              <a:pathLst>
                <a:path w="4343400" h="901700">
                  <a:moveTo>
                    <a:pt x="0" y="0"/>
                  </a:moveTo>
                  <a:lnTo>
                    <a:pt x="4343400" y="0"/>
                  </a:lnTo>
                  <a:lnTo>
                    <a:pt x="4343400" y="901700"/>
                  </a:lnTo>
                  <a:lnTo>
                    <a:pt x="0" y="901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  <p:extLst>
      <p:ext uri="{BB962C8B-B14F-4D97-AF65-F5344CB8AC3E}">
        <p14:creationId xmlns:p14="http://schemas.microsoft.com/office/powerpoint/2010/main" val="22016609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4F17B2-22DB-7BC5-F82D-244C740D5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Introducción</a:t>
            </a:r>
          </a:p>
        </p:txBody>
      </p:sp>
      <p:sp>
        <p:nvSpPr>
          <p:cNvPr id="20" name="Contenido"/>
          <p:cNvSpPr txBox="1"/>
          <p:nvPr/>
        </p:nvSpPr>
        <p:spPr>
          <a:xfrm>
            <a:off x="838200" y="1800000"/>
            <a:ext cx="10515600" cy="3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s-MX" sz="2400" dirty="0">
                <a:solidFill>
                  <a:srgbClr val="404040"/>
                </a:solidFill>
              </a:rPr>
              <a:t>En esta práctica se crea una API REST básica con Spring Boot y Java, conectada a una base de datos PostgreSQL. El proyecto se genera con Spring Initializr y se organiza en capas (controlador, entidad, repositorio y servicio) para administrar los datos de una persona: consultar, registrar, actualizar y eliminar (CRUD).</a:t>
            </a:r>
          </a:p>
        </p:txBody>
      </p:sp>
    </p:spTree>
    <p:extLst>
      <p:ext uri="{BB962C8B-B14F-4D97-AF65-F5344CB8AC3E}">
        <p14:creationId xmlns:p14="http://schemas.microsoft.com/office/powerpoint/2010/main" val="2493578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4F17B2-22DB-7BC5-F82D-244C740D5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Justificación</a:t>
            </a:r>
          </a:p>
        </p:txBody>
      </p:sp>
      <p:sp>
        <p:nvSpPr>
          <p:cNvPr id="20" name="Contenido"/>
          <p:cNvSpPr txBox="1"/>
          <p:nvPr/>
        </p:nvSpPr>
        <p:spPr>
          <a:xfrm>
            <a:off x="838200" y="1800000"/>
            <a:ext cx="10515600" cy="3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s-MX" sz="2400" dirty="0">
                <a:solidFill>
                  <a:srgbClr val="404040"/>
                </a:solidFill>
              </a:rPr>
              <a:t>Una API permite que otras aplicaciones usen los datos de una base de datos de forma ordenada, sin acceder directamente a ella. Spring Boot reduce la configuración necesaria y dividir el código en capas hace que el proyecto sea más claro y fácil de mantener. Esta práctica es la base para las siguientes actividades del Taller de Base de Datos.</a:t>
            </a:r>
          </a:p>
        </p:txBody>
      </p:sp>
    </p:spTree>
    <p:extLst>
      <p:ext uri="{BB962C8B-B14F-4D97-AF65-F5344CB8AC3E}">
        <p14:creationId xmlns:p14="http://schemas.microsoft.com/office/powerpoint/2010/main" val="24935787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4F17B2-22DB-7BC5-F82D-244C740D5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Descargamos y descomprimimos en archivo que se genero y ingresamos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183BBDA3-F4D8-FA9C-98EC-F9A3A11FE8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4597" y="1690688"/>
            <a:ext cx="7205950" cy="3595461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C245389-934B-701A-46D3-A0033D805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698" y="1831492"/>
            <a:ext cx="3429176" cy="1104957"/>
          </a:xfrm>
          <a:prstGeom prst="rect">
            <a:avLst/>
          </a:prstGeom>
        </p:spPr>
      </p:pic>
      <p:sp>
        <p:nvSpPr>
          <p:cNvPr id="20" name="Descripción 1"/>
          <p:cNvSpPr txBox="1"/>
          <p:nvPr/>
        </p:nvSpPr>
        <p:spPr>
          <a:xfrm>
            <a:off x="494597" y="5360000"/>
            <a:ext cx="7205950" cy="1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s-MX" sz="1400" dirty="0">
                <a:solidFill>
                  <a:srgbClr val="404040"/>
                </a:solidFill>
              </a:rPr>
              <a:t>Spring Initializr (start.spring.io): aquí se arma el proyecto «my-first-api» con Maven, Java 21 y Spring Boot 4.1.2. Se agregan las dependencias Spring Web (para crear la API), Spring Data JPA (para guardar datos), PostgreSQL Driver (para conectar con la base de datos) y Lombok (para escribir menos código). Con «Generate» se descarga el proyecto.</a:t>
            </a:r>
          </a:p>
        </p:txBody>
      </p:sp>
      <p:sp>
        <p:nvSpPr>
          <p:cNvPr id="21" name="Descripción 2"/>
          <p:cNvSpPr txBox="1"/>
          <p:nvPr/>
        </p:nvSpPr>
        <p:spPr>
          <a:xfrm>
            <a:off x="8354698" y="3050000"/>
            <a:ext cx="3429176" cy="23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s-MX" sz="1400" dirty="0">
                <a:solidFill>
                  <a:srgbClr val="404040"/>
                </a:solidFill>
              </a:rPr>
              <a:t>Descarga del archivo my-first-api.zip. Se descomprime y se abre la carpeta del proyecto en el IDE (IntelliJ IDEA) para empezar a programar.</a:t>
            </a:r>
          </a:p>
        </p:txBody>
      </p:sp>
    </p:spTree>
    <p:extLst>
      <p:ext uri="{BB962C8B-B14F-4D97-AF65-F5344CB8AC3E}">
        <p14:creationId xmlns:p14="http://schemas.microsoft.com/office/powerpoint/2010/main" val="2493578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B3C7A7-FD6B-CB97-40A8-346BAE826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Le agregamos el controlador</a:t>
            </a:r>
          </a:p>
        </p:txBody>
      </p:sp>
      <p:pic>
        <p:nvPicPr>
          <p:cNvPr id="9" name="Marcador de contenido 8">
            <a:extLst>
              <a:ext uri="{FF2B5EF4-FFF2-40B4-BE49-F238E27FC236}">
                <a16:creationId xmlns:a16="http://schemas.microsoft.com/office/drawing/2014/main" id="{C91948CD-9EE5-1425-5F53-2AB291DFF5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5625"/>
            <a:ext cx="6000000" cy="3156413"/>
          </a:xfrm>
        </p:spPr>
      </p:pic>
      <p:sp>
        <p:nvSpPr>
          <p:cNvPr id="30" name="Descripción"/>
          <p:cNvSpPr txBox="1"/>
          <p:nvPr/>
        </p:nvSpPr>
        <p:spPr>
          <a:xfrm>
            <a:off x="7100000" y="1825625"/>
            <a:ext cx="4250000" cy="43513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es-MX" sz="1600" b="1" dirty="0">
                <a:solidFill>
                  <a:srgbClr val="404040"/>
                </a:solidFill>
              </a:rPr>
              <a:t>PersonaController (controlador)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s-MX" sz="1400" dirty="0">
                <a:solidFill>
                  <a:srgbClr val="404040"/>
                </a:solidFill>
              </a:rPr>
              <a:t>Es la puerta de entrada de la API: recibe las peticiones y responde. @RestController y @RequestMapping("/api/personas") definen la ruta base, y cada método atiende una operación: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s-MX" sz="1400" b="1" dirty="0">
                <a:solidFill>
                  <a:srgbClr val="404040"/>
                </a:solidFill>
              </a:rPr>
              <a:t>GET /api/personas: </a:t>
            </a:r>
            <a:r>
              <a:rPr lang="es-MX" sz="1400" dirty="0">
                <a:solidFill>
                  <a:srgbClr val="404040"/>
                </a:solidFill>
              </a:rPr>
              <a:t>lista todas las personas.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s-MX" sz="1400" b="1" dirty="0">
                <a:solidFill>
                  <a:srgbClr val="404040"/>
                </a:solidFill>
              </a:rPr>
              <a:t>GET /{id}: </a:t>
            </a:r>
            <a:r>
              <a:rPr lang="es-MX" sz="1400" dirty="0">
                <a:solidFill>
                  <a:srgbClr val="404040"/>
                </a:solidFill>
              </a:rPr>
              <a:t>busca una persona por su id.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s-MX" sz="1400" b="1" dirty="0">
                <a:solidFill>
                  <a:srgbClr val="404040"/>
                </a:solidFill>
              </a:rPr>
              <a:t>POST: </a:t>
            </a:r>
            <a:r>
              <a:rPr lang="es-MX" sz="1400" dirty="0">
                <a:solidFill>
                  <a:srgbClr val="404040"/>
                </a:solidFill>
              </a:rPr>
              <a:t>crea una persona nueva.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s-MX" sz="1400" b="1" dirty="0">
                <a:solidFill>
                  <a:srgbClr val="404040"/>
                </a:solidFill>
              </a:rPr>
              <a:t>PUT /{id}: </a:t>
            </a:r>
            <a:r>
              <a:rPr lang="es-MX" sz="1400" dirty="0">
                <a:solidFill>
                  <a:srgbClr val="404040"/>
                </a:solidFill>
              </a:rPr>
              <a:t>actualiza una persona.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s-MX" sz="1400" b="1" dirty="0">
                <a:solidFill>
                  <a:srgbClr val="404040"/>
                </a:solidFill>
              </a:rPr>
              <a:t>DELETE /{id}: </a:t>
            </a:r>
            <a:r>
              <a:rPr lang="es-MX" sz="1400" dirty="0">
                <a:solidFill>
                  <a:srgbClr val="404040"/>
                </a:solidFill>
              </a:rPr>
              <a:t>elimina una persona.</a:t>
            </a:r>
          </a:p>
        </p:txBody>
      </p:sp>
    </p:spTree>
    <p:extLst>
      <p:ext uri="{BB962C8B-B14F-4D97-AF65-F5344CB8AC3E}">
        <p14:creationId xmlns:p14="http://schemas.microsoft.com/office/powerpoint/2010/main" val="635790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8967E8-0F0B-5743-9A0D-F0EEF24D9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La entidad Persona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C561523B-2DEA-A5FC-33F8-DB70CF2FC8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5625"/>
            <a:ext cx="6000000" cy="3162670"/>
          </a:xfrm>
        </p:spPr>
      </p:pic>
      <p:sp>
        <p:nvSpPr>
          <p:cNvPr id="30" name="Descripción"/>
          <p:cNvSpPr txBox="1"/>
          <p:nvPr/>
        </p:nvSpPr>
        <p:spPr>
          <a:xfrm>
            <a:off x="7100000" y="1825625"/>
            <a:ext cx="4250000" cy="43513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es-MX" sz="1600" b="1" dirty="0">
                <a:solidFill>
                  <a:srgbClr val="404040"/>
                </a:solidFill>
              </a:rPr>
              <a:t>Persona (entidad)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es-MX" sz="1400" dirty="0">
                <a:solidFill>
                  <a:srgbClr val="404040"/>
                </a:solidFill>
              </a:rPr>
              <a:t>Representa una fila de la tabla «personas» de la base de datos. @Entity y @Table(name = "personas") convierten la clase en tabla, y @Id con @GeneratedValue hacen que el id se genere solo.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es-MX" sz="1400" dirty="0">
                <a:solidFill>
                  <a:srgbClr val="404040"/>
                </a:solidFill>
              </a:rPr>
              <a:t>Cada atributo es una columna: nombre, apellidoPaterno, apellidoMaterno, direccion, telefono y email.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s-MX" sz="1400" dirty="0">
                <a:solidFill>
                  <a:srgbClr val="404040"/>
                </a:solidFill>
              </a:rPr>
              <a:t>@Data (de Lombok) crea automáticamente los getters y setters, así no se escriben a mano.</a:t>
            </a:r>
          </a:p>
        </p:txBody>
      </p:sp>
    </p:spTree>
    <p:extLst>
      <p:ext uri="{BB962C8B-B14F-4D97-AF65-F5344CB8AC3E}">
        <p14:creationId xmlns:p14="http://schemas.microsoft.com/office/powerpoint/2010/main" val="25920573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F47E49-8D19-B4FF-5C4B-863243E3C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El repositorio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BAA4E24-F73E-9FD7-D2EE-C2083108E2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5625"/>
            <a:ext cx="6000000" cy="3165798"/>
          </a:xfrm>
        </p:spPr>
      </p:pic>
      <p:sp>
        <p:nvSpPr>
          <p:cNvPr id="30" name="Descripción"/>
          <p:cNvSpPr txBox="1"/>
          <p:nvPr/>
        </p:nvSpPr>
        <p:spPr>
          <a:xfrm>
            <a:off x="7100000" y="1825625"/>
            <a:ext cx="4250000" cy="43513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es-MX" sz="1600" b="1" dirty="0">
                <a:solidFill>
                  <a:srgbClr val="404040"/>
                </a:solidFill>
              </a:rPr>
              <a:t>PersonaRepository (repositorio)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es-MX" sz="1400" dirty="0">
                <a:solidFill>
                  <a:srgbClr val="404040"/>
                </a:solidFill>
              </a:rPr>
              <a:t>Es la parte que se comunica con la base de datos. Es una interfaz marcada con @Repository que extiende JpaRepository&lt;Persona, Long&gt;: Persona es la entidad y Long es el tipo de su id.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s-MX" sz="1400" dirty="0">
                <a:solidFill>
                  <a:srgbClr val="404040"/>
                </a:solidFill>
              </a:rPr>
              <a:t>Con eso, Spring Data JPA nos da listos los métodos para guardar, buscar, actualizar y eliminar registros, sin escribir sentencias SQL.</a:t>
            </a:r>
          </a:p>
        </p:txBody>
      </p:sp>
    </p:spTree>
    <p:extLst>
      <p:ext uri="{BB962C8B-B14F-4D97-AF65-F5344CB8AC3E}">
        <p14:creationId xmlns:p14="http://schemas.microsoft.com/office/powerpoint/2010/main" val="30114135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482F0E-AB0B-94B3-3AA7-3F1AA07A4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El servicio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84961CC-DB44-0134-C953-20C95F4C60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5625"/>
            <a:ext cx="6000000" cy="3156413"/>
          </a:xfrm>
        </p:spPr>
      </p:pic>
      <p:sp>
        <p:nvSpPr>
          <p:cNvPr id="30" name="Descripción"/>
          <p:cNvSpPr txBox="1"/>
          <p:nvPr/>
        </p:nvSpPr>
        <p:spPr>
          <a:xfrm>
            <a:off x="7100000" y="1825625"/>
            <a:ext cx="4250000" cy="43513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es-MX" sz="1600" b="1" dirty="0">
                <a:solidFill>
                  <a:srgbClr val="404040"/>
                </a:solidFill>
              </a:rPr>
              <a:t>PersonaService (servicio)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s-MX" sz="1400" dirty="0">
                <a:solidFill>
                  <a:srgbClr val="404040"/>
                </a:solidFill>
              </a:rPr>
              <a:t>Contiene la lógica del programa. Con @Service trabaja entre el controlador y el repositorio: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s-MX" sz="1400" b="1" dirty="0">
                <a:solidFill>
                  <a:srgbClr val="404040"/>
                </a:solidFill>
              </a:rPr>
              <a:t>listarTodas(): </a:t>
            </a:r>
            <a:r>
              <a:rPr lang="es-MX" sz="1400" dirty="0">
                <a:solidFill>
                  <a:srgbClr val="404040"/>
                </a:solidFill>
              </a:rPr>
              <a:t>trae todos los registros.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s-MX" sz="1400" b="1" dirty="0">
                <a:solidFill>
                  <a:srgbClr val="404040"/>
                </a:solidFill>
              </a:rPr>
              <a:t>buscarPorId(id): </a:t>
            </a:r>
            <a:r>
              <a:rPr lang="es-MX" sz="1400" dirty="0">
                <a:solidFill>
                  <a:srgbClr val="404040"/>
                </a:solidFill>
              </a:rPr>
              <a:t>busca una persona por id.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s-MX" sz="1400" b="1" dirty="0">
                <a:solidFill>
                  <a:srgbClr val="404040"/>
                </a:solidFill>
              </a:rPr>
              <a:t>guardar(persona): </a:t>
            </a:r>
            <a:r>
              <a:rPr lang="es-MX" sz="1400" dirty="0">
                <a:solidFill>
                  <a:srgbClr val="404040"/>
                </a:solidFill>
              </a:rPr>
              <a:t>guarda una persona nueva.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s-MX" sz="1400" b="1" dirty="0">
                <a:solidFill>
                  <a:srgbClr val="404040"/>
                </a:solidFill>
              </a:rPr>
              <a:t>actualizar(id, nuevosDatos): </a:t>
            </a:r>
            <a:r>
              <a:rPr lang="es-MX" sz="1400" dirty="0">
                <a:solidFill>
                  <a:srgbClr val="404040"/>
                </a:solidFill>
              </a:rPr>
              <a:t>busca la persona y cambia sus datos.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s-MX" sz="1400" b="1" dirty="0">
                <a:solidFill>
                  <a:srgbClr val="404040"/>
                </a:solidFill>
              </a:rPr>
              <a:t>eliminar(id): </a:t>
            </a:r>
            <a:r>
              <a:rPr lang="es-MX" sz="1400" dirty="0">
                <a:solidFill>
                  <a:srgbClr val="404040"/>
                </a:solidFill>
              </a:rPr>
              <a:t>si existe la borra (true); si no, devuelve false.</a:t>
            </a:r>
          </a:p>
        </p:txBody>
      </p:sp>
    </p:spTree>
    <p:extLst>
      <p:ext uri="{BB962C8B-B14F-4D97-AF65-F5344CB8AC3E}">
        <p14:creationId xmlns:p14="http://schemas.microsoft.com/office/powerpoint/2010/main" val="839313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D1842F-A866-7B93-6E4C-A38084937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La clase principal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3ACCE70A-AA0C-7BCE-94E5-C64913E692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5625"/>
            <a:ext cx="6000000" cy="3156413"/>
          </a:xfrm>
        </p:spPr>
      </p:pic>
      <p:sp>
        <p:nvSpPr>
          <p:cNvPr id="30" name="Descripción"/>
          <p:cNvSpPr txBox="1"/>
          <p:nvPr/>
        </p:nvSpPr>
        <p:spPr>
          <a:xfrm>
            <a:off x="7100000" y="1825625"/>
            <a:ext cx="4250000" cy="43513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es-MX" sz="1600" b="1" dirty="0">
                <a:solidFill>
                  <a:srgbClr val="404040"/>
                </a:solidFill>
              </a:rPr>
              <a:t>MyFirstApiApplication (clase principal)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es-MX" sz="1400" dirty="0">
                <a:solidFill>
                  <a:srgbClr val="404040"/>
                </a:solidFill>
              </a:rPr>
              <a:t>Es el punto de arranque del proyecto. @SpringBootApplication activa la configuración automática de Spring Boot.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s-MX" sz="1400" dirty="0">
                <a:solidFill>
                  <a:srgbClr val="404040"/>
                </a:solidFill>
              </a:rPr>
              <a:t>El método main ejecuta SpringApplication.run(...), que levanta el servidor y deja la API funcionando para recibir peticiones.</a:t>
            </a:r>
          </a:p>
        </p:txBody>
      </p:sp>
    </p:spTree>
    <p:extLst>
      <p:ext uri="{BB962C8B-B14F-4D97-AF65-F5344CB8AC3E}">
        <p14:creationId xmlns:p14="http://schemas.microsoft.com/office/powerpoint/2010/main" val="370984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303B6E-9A94-23B7-CD54-565986FEA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Conexión a la base de datos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9C6E9863-EF62-E62B-94C1-59A24BE665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5625"/>
            <a:ext cx="6000000" cy="3156413"/>
          </a:xfrm>
        </p:spPr>
      </p:pic>
      <p:sp>
        <p:nvSpPr>
          <p:cNvPr id="30" name="Descripción"/>
          <p:cNvSpPr txBox="1"/>
          <p:nvPr/>
        </p:nvSpPr>
        <p:spPr>
          <a:xfrm>
            <a:off x="7100000" y="1825625"/>
            <a:ext cx="4250000" cy="43513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es-MX" sz="1600" b="1" dirty="0">
                <a:solidFill>
                  <a:srgbClr val="404040"/>
                </a:solidFill>
              </a:rPr>
              <a:t>application.properties (configuración)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s-MX" sz="1400" dirty="0">
                <a:solidFill>
                  <a:srgbClr val="404040"/>
                </a:solidFill>
              </a:rPr>
              <a:t>Indica cómo se conecta la API a la base de datos PostgreSQL: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s-MX" sz="1400" b="1" dirty="0">
                <a:solidFill>
                  <a:srgbClr val="404040"/>
                </a:solidFill>
              </a:rPr>
              <a:t>server.port: </a:t>
            </a:r>
            <a:r>
              <a:rPr lang="es-MX" sz="1400" dirty="0">
                <a:solidFill>
                  <a:srgbClr val="404040"/>
                </a:solidFill>
              </a:rPr>
              <a:t>la API se ejecuta en el puerto 8081.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s-MX" sz="1400" b="1" dirty="0">
                <a:solidFill>
                  <a:srgbClr val="404040"/>
                </a:solidFill>
              </a:rPr>
              <a:t>datasource.url: </a:t>
            </a:r>
            <a:r>
              <a:rPr lang="es-MX" sz="1400" dirty="0">
                <a:solidFill>
                  <a:srgbClr val="404040"/>
                </a:solidFill>
              </a:rPr>
              <a:t>conexión a la base my_first_api en localhost, puerto 5432.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s-MX" sz="1400" b="1" dirty="0">
                <a:solidFill>
                  <a:srgbClr val="404040"/>
                </a:solidFill>
              </a:rPr>
              <a:t>username: </a:t>
            </a:r>
            <a:r>
              <a:rPr lang="es-MX" sz="1400" dirty="0">
                <a:solidFill>
                  <a:srgbClr val="404040"/>
                </a:solidFill>
              </a:rPr>
              <a:t>usuario de la base de datos (postgres).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s-MX" sz="1400" b="1" dirty="0">
                <a:solidFill>
                  <a:srgbClr val="404040"/>
                </a:solidFill>
              </a:rPr>
              <a:t>ddl-auto=update: </a:t>
            </a:r>
            <a:r>
              <a:rPr lang="es-MX" sz="1400" dirty="0">
                <a:solidFill>
                  <a:srgbClr val="404040"/>
                </a:solidFill>
              </a:rPr>
              <a:t>crea o actualiza las tablas a partir de la entidad.</a:t>
            </a:r>
          </a:p>
          <a:p>
            <a:pPr marL="228600" indent="-228600" algn="l">
              <a:spcBef>
                <a:spcPts val="400"/>
              </a:spcBef>
              <a:buFont typeface="Arial"/>
              <a:buChar char="•"/>
            </a:pPr>
            <a:r>
              <a:rPr lang="es-MX" sz="1400" b="1" dirty="0">
                <a:solidFill>
                  <a:srgbClr val="404040"/>
                </a:solidFill>
              </a:rPr>
              <a:t>show-sql=true: </a:t>
            </a:r>
            <a:r>
              <a:rPr lang="es-MX" sz="1400" dirty="0">
                <a:solidFill>
                  <a:srgbClr val="404040"/>
                </a:solidFill>
              </a:rPr>
              <a:t>muestra en consola el SQL que se ejecuta.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es-MX" sz="1200" dirty="0">
                <a:solidFill>
                  <a:srgbClr val="404040"/>
                </a:solidFill>
              </a:rPr>
              <a:t>Las líneas que empiezan con # son comentarios y no se usan.</a:t>
            </a:r>
          </a:p>
        </p:txBody>
      </p:sp>
    </p:spTree>
    <p:extLst>
      <p:ext uri="{BB962C8B-B14F-4D97-AF65-F5344CB8AC3E}">
        <p14:creationId xmlns:p14="http://schemas.microsoft.com/office/powerpoint/2010/main" val="38593908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4F17B2-22DB-7BC5-F82D-244C740D5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Conclusión</a:t>
            </a:r>
          </a:p>
        </p:txBody>
      </p:sp>
      <p:sp>
        <p:nvSpPr>
          <p:cNvPr id="20" name="Contenido"/>
          <p:cNvSpPr txBox="1"/>
          <p:nvPr/>
        </p:nvSpPr>
        <p:spPr>
          <a:xfrm>
            <a:off x="838200" y="1800000"/>
            <a:ext cx="10515600" cy="3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s-MX" sz="2200" dirty="0">
                <a:solidFill>
                  <a:srgbClr val="404040"/>
                </a:solidFill>
              </a:rPr>
              <a:t>Se creó la estructura completa de una API: el proyecto generado, la entidad, el repositorio, el servicio, el controlador y la configuración de conexión a PostgreSQL. Así se entiende cómo una petición llega al controlador, pasa por el servicio y el repositorio, y llega a la base de datos. Con esto la API queda lista para ejecutarse y probar sus operaciones CRUD.</a:t>
            </a:r>
          </a:p>
        </p:txBody>
      </p:sp>
      <p:sp>
        <p:nvSpPr>
          <p:cNvPr id="21" name="Referencias"/>
          <p:cNvSpPr txBox="1"/>
          <p:nvPr/>
        </p:nvSpPr>
        <p:spPr>
          <a:xfrm>
            <a:off x="838200" y="5700000"/>
            <a:ext cx="10515600" cy="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s-MX" sz="1100" b="1" dirty="0">
                <a:solidFill>
                  <a:srgbClr val="404040"/>
                </a:solidFill>
              </a:rPr>
              <a:t>Fuentes de información  (consultables en línea):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s-MX" sz="1100" dirty="0">
                <a:solidFill>
                  <a:srgbClr val="404040"/>
                </a:solidFill>
              </a:rPr>
              <a:t>Spring. (s. f.). Spring Initializr. https://start.spring.io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s-MX" sz="1100" dirty="0">
                <a:solidFill>
                  <a:srgbClr val="404040"/>
                </a:solidFill>
              </a:rPr>
              <a:t>Spring. (s. f.). Spring Boot. https://spring.io/projects/spring-boot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s-MX" sz="1100" dirty="0">
                <a:solidFill>
                  <a:srgbClr val="404040"/>
                </a:solidFill>
              </a:rPr>
              <a:t>Spring. (s. f.). Spring Data JPA. https://spring.io/projects/spring-data-jpa</a:t>
            </a:r>
          </a:p>
        </p:txBody>
      </p:sp>
    </p:spTree>
    <p:extLst>
      <p:ext uri="{BB962C8B-B14F-4D97-AF65-F5344CB8AC3E}">
        <p14:creationId xmlns:p14="http://schemas.microsoft.com/office/powerpoint/2010/main" val="249357872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">
  <a:themeElements>
    <a:clrScheme name="Fac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43</TotalTime>
  <Words>935</Words>
  <Application>Microsoft Office PowerPoint</Application>
  <PresentationFormat>Panorámica</PresentationFormat>
  <Paragraphs>73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6" baseType="lpstr">
      <vt:lpstr>Arial</vt:lpstr>
      <vt:lpstr>Century Gothic</vt:lpstr>
      <vt:lpstr>Trebuchet MS</vt:lpstr>
      <vt:lpstr>Wingdings 3</vt:lpstr>
      <vt:lpstr>Faceta</vt:lpstr>
      <vt:lpstr>Presentación de PowerPoint</vt:lpstr>
      <vt:lpstr>Introducción</vt:lpstr>
      <vt:lpstr>Justificación</vt:lpstr>
      <vt:lpstr>Descargamos y descomprimimos en archivo que se genero y ingresamos</vt:lpstr>
      <vt:lpstr>Le agregamos el controlador</vt:lpstr>
      <vt:lpstr>La entidad Persona</vt:lpstr>
      <vt:lpstr>El repositorio</vt:lpstr>
      <vt:lpstr>El servicio</vt:lpstr>
      <vt:lpstr>La clase principal</vt:lpstr>
      <vt:lpstr>Conexión a la base de datos</vt:lpstr>
      <vt:lpstr>Conclusión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Jasmine Morales</dc:creator>
  <cp:lastModifiedBy>Jasmine Morales</cp:lastModifiedBy>
  <cp:revision>2</cp:revision>
  <dcterms:created xsi:type="dcterms:W3CDTF">2026-11-02T00:26:07Z</dcterms:created>
  <dcterms:modified xsi:type="dcterms:W3CDTF">2026-11-02T01:21:41Z</dcterms:modified>
</cp:coreProperties>
</file>